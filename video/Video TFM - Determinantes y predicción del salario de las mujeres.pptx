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7" r:id="rId20"/>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20AD1C-253E-4ACF-81BD-63ACC430987C}" v="2" dt="2026-10-01T03:08:27.5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0453" autoAdjust="0"/>
  </p:normalViewPr>
  <p:slideViewPr>
    <p:cSldViewPr snapToGrid="0" snapToObjects="1">
      <p:cViewPr varScale="1">
        <p:scale>
          <a:sx n="70" d="100"/>
          <a:sy n="70" d="100"/>
        </p:scale>
        <p:origin x="512"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  <Relationship Id="rId20" Type="http://schemas.openxmlformats.org/officeDocument/2006/relationships/slide" Target="slides/slide12.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tricia Elizabeth Olguin" userId="bec4288ea8c1abfb" providerId="LiveId" clId="{A5EA6D6F-0A4B-4006-85E2-1EFFB448C42D}"/>
    <pc:docChg chg="undo custSel addSld delSld modSld">
      <pc:chgData name="Patricia Elizabeth Olguin" userId="bec4288ea8c1abfb" providerId="LiveId" clId="{A5EA6D6F-0A4B-4006-85E2-1EFFB448C42D}" dt="2026-10-01T03:07:46.803" v="2491" actId="3626"/>
      <pc:docMkLst>
        <pc:docMk/>
      </pc:docMkLst>
      <pc:sldChg chg="modSp mod modNotesTx">
        <pc:chgData name="Patricia Elizabeth Olguin" userId="bec4288ea8c1abfb" providerId="LiveId" clId="{A5EA6D6F-0A4B-4006-85E2-1EFFB448C42D}" dt="2026-10-01T02:31:38.697" v="1863" actId="6549"/>
        <pc:sldMkLst>
          <pc:docMk/>
          <pc:sldMk cId="0" sldId="256"/>
        </pc:sldMkLst>
        <pc:spChg chg="mod">
          <ac:chgData name="Patricia Elizabeth Olguin" userId="bec4288ea8c1abfb" providerId="LiveId" clId="{A5EA6D6F-0A4B-4006-85E2-1EFFB448C42D}" dt="2026-09-30T23:47:25.805" v="61" actId="20577"/>
          <ac:spMkLst>
            <pc:docMk/>
            <pc:sldMk cId="0" sldId="256"/>
            <ac:spMk id="4" creationId="{00000000-0000-0000-0000-000000000000}"/>
          </ac:spMkLst>
        </pc:spChg>
        <pc:spChg chg="mod">
          <ac:chgData name="Patricia Elizabeth Olguin" userId="bec4288ea8c1abfb" providerId="LiveId" clId="{A5EA6D6F-0A4B-4006-85E2-1EFFB448C42D}" dt="2026-09-30T23:47:17.679" v="42" actId="20577"/>
          <ac:spMkLst>
            <pc:docMk/>
            <pc:sldMk cId="0" sldId="256"/>
            <ac:spMk id="5" creationId="{00000000-0000-0000-0000-000000000000}"/>
          </ac:spMkLst>
        </pc:spChg>
      </pc:sldChg>
      <pc:sldChg chg="modSp mod">
        <pc:chgData name="Patricia Elizabeth Olguin" userId="bec4288ea8c1abfb" providerId="LiveId" clId="{A5EA6D6F-0A4B-4006-85E2-1EFFB448C42D}" dt="2026-10-01T02:47:46.078" v="2207" actId="113"/>
        <pc:sldMkLst>
          <pc:docMk/>
          <pc:sldMk cId="0" sldId="257"/>
        </pc:sldMkLst>
        <pc:spChg chg="mod">
          <ac:chgData name="Patricia Elizabeth Olguin" userId="bec4288ea8c1abfb" providerId="LiveId" clId="{A5EA6D6F-0A4B-4006-85E2-1EFFB448C42D}" dt="2026-10-01T02:36:41.535" v="2026" actId="6549"/>
          <ac:spMkLst>
            <pc:docMk/>
            <pc:sldMk cId="0" sldId="257"/>
            <ac:spMk id="3" creationId="{00000000-0000-0000-0000-000000000000}"/>
          </ac:spMkLst>
        </pc:spChg>
        <pc:spChg chg="mod">
          <ac:chgData name="Patricia Elizabeth Olguin" userId="bec4288ea8c1abfb" providerId="LiveId" clId="{A5EA6D6F-0A4B-4006-85E2-1EFFB448C42D}" dt="2026-10-01T02:47:46.078" v="2207" actId="113"/>
          <ac:spMkLst>
            <pc:docMk/>
            <pc:sldMk cId="0" sldId="257"/>
            <ac:spMk id="4" creationId="{00000000-0000-0000-0000-000000000000}"/>
          </ac:spMkLst>
        </pc:spChg>
        <pc:spChg chg="mod">
          <ac:chgData name="Patricia Elizabeth Olguin" userId="bec4288ea8c1abfb" providerId="LiveId" clId="{A5EA6D6F-0A4B-4006-85E2-1EFFB448C42D}" dt="2026-10-01T02:41:51.864" v="2179" actId="14100"/>
          <ac:spMkLst>
            <pc:docMk/>
            <pc:sldMk cId="0" sldId="257"/>
            <ac:spMk id="5" creationId="{00000000-0000-0000-0000-000000000000}"/>
          </ac:spMkLst>
        </pc:spChg>
        <pc:spChg chg="mod">
          <ac:chgData name="Patricia Elizabeth Olguin" userId="bec4288ea8c1abfb" providerId="LiveId" clId="{A5EA6D6F-0A4B-4006-85E2-1EFFB448C42D}" dt="2026-10-01T02:41:33.772" v="2177" actId="14100"/>
          <ac:spMkLst>
            <pc:docMk/>
            <pc:sldMk cId="0" sldId="257"/>
            <ac:spMk id="6" creationId="{00000000-0000-0000-0000-000000000000}"/>
          </ac:spMkLst>
        </pc:spChg>
        <pc:spChg chg="mod">
          <ac:chgData name="Patricia Elizabeth Olguin" userId="bec4288ea8c1abfb" providerId="LiveId" clId="{A5EA6D6F-0A4B-4006-85E2-1EFFB448C42D}" dt="2026-10-01T02:41:11.850" v="2175" actId="1076"/>
          <ac:spMkLst>
            <pc:docMk/>
            <pc:sldMk cId="0" sldId="257"/>
            <ac:spMk id="7" creationId="{00000000-0000-0000-0000-000000000000}"/>
          </ac:spMkLst>
        </pc:spChg>
        <pc:spChg chg="mod">
          <ac:chgData name="Patricia Elizabeth Olguin" userId="bec4288ea8c1abfb" providerId="LiveId" clId="{A5EA6D6F-0A4B-4006-85E2-1EFFB448C42D}" dt="2026-10-01T02:44:40.453" v="2198" actId="1076"/>
          <ac:spMkLst>
            <pc:docMk/>
            <pc:sldMk cId="0" sldId="257"/>
            <ac:spMk id="8" creationId="{00000000-0000-0000-0000-000000000000}"/>
          </ac:spMkLst>
        </pc:spChg>
        <pc:spChg chg="mod">
          <ac:chgData name="Patricia Elizabeth Olguin" userId="bec4288ea8c1abfb" providerId="LiveId" clId="{A5EA6D6F-0A4B-4006-85E2-1EFFB448C42D}" dt="2026-10-01T02:42:46.968" v="2187" actId="14100"/>
          <ac:spMkLst>
            <pc:docMk/>
            <pc:sldMk cId="0" sldId="257"/>
            <ac:spMk id="9" creationId="{00000000-0000-0000-0000-000000000000}"/>
          </ac:spMkLst>
        </pc:spChg>
        <pc:spChg chg="mod">
          <ac:chgData name="Patricia Elizabeth Olguin" userId="bec4288ea8c1abfb" providerId="LiveId" clId="{A5EA6D6F-0A4B-4006-85E2-1EFFB448C42D}" dt="2026-10-01T02:42:18.604" v="2182" actId="14100"/>
          <ac:spMkLst>
            <pc:docMk/>
            <pc:sldMk cId="0" sldId="257"/>
            <ac:spMk id="10" creationId="{00000000-0000-0000-0000-000000000000}"/>
          </ac:spMkLst>
        </pc:spChg>
        <pc:spChg chg="mod">
          <ac:chgData name="Patricia Elizabeth Olguin" userId="bec4288ea8c1abfb" providerId="LiveId" clId="{A5EA6D6F-0A4B-4006-85E2-1EFFB448C42D}" dt="2026-10-01T02:42:41.450" v="2186" actId="1076"/>
          <ac:spMkLst>
            <pc:docMk/>
            <pc:sldMk cId="0" sldId="257"/>
            <ac:spMk id="11" creationId="{00000000-0000-0000-0000-000000000000}"/>
          </ac:spMkLst>
        </pc:spChg>
        <pc:spChg chg="mod">
          <ac:chgData name="Patricia Elizabeth Olguin" userId="bec4288ea8c1abfb" providerId="LiveId" clId="{A5EA6D6F-0A4B-4006-85E2-1EFFB448C42D}" dt="2026-10-01T02:44:06.260" v="2197" actId="1076"/>
          <ac:spMkLst>
            <pc:docMk/>
            <pc:sldMk cId="0" sldId="257"/>
            <ac:spMk id="12" creationId="{00000000-0000-0000-0000-000000000000}"/>
          </ac:spMkLst>
        </pc:spChg>
        <pc:spChg chg="mod">
          <ac:chgData name="Patricia Elizabeth Olguin" userId="bec4288ea8c1abfb" providerId="LiveId" clId="{A5EA6D6F-0A4B-4006-85E2-1EFFB448C42D}" dt="2026-10-01T02:43:20.736" v="2193" actId="1076"/>
          <ac:spMkLst>
            <pc:docMk/>
            <pc:sldMk cId="0" sldId="257"/>
            <ac:spMk id="13" creationId="{00000000-0000-0000-0000-000000000000}"/>
          </ac:spMkLst>
        </pc:spChg>
        <pc:spChg chg="mod">
          <ac:chgData name="Patricia Elizabeth Olguin" userId="bec4288ea8c1abfb" providerId="LiveId" clId="{A5EA6D6F-0A4B-4006-85E2-1EFFB448C42D}" dt="2026-10-01T02:43:33.996" v="2195" actId="14100"/>
          <ac:spMkLst>
            <pc:docMk/>
            <pc:sldMk cId="0" sldId="257"/>
            <ac:spMk id="14" creationId="{00000000-0000-0000-0000-000000000000}"/>
          </ac:spMkLst>
        </pc:spChg>
        <pc:spChg chg="mod">
          <ac:chgData name="Patricia Elizabeth Olguin" userId="bec4288ea8c1abfb" providerId="LiveId" clId="{A5EA6D6F-0A4B-4006-85E2-1EFFB448C42D}" dt="2026-10-01T02:44:52.818" v="2199" actId="1076"/>
          <ac:spMkLst>
            <pc:docMk/>
            <pc:sldMk cId="0" sldId="257"/>
            <ac:spMk id="15" creationId="{00000000-0000-0000-0000-000000000000}"/>
          </ac:spMkLst>
        </pc:spChg>
        <pc:spChg chg="mod">
          <ac:chgData name="Patricia Elizabeth Olguin" userId="bec4288ea8c1abfb" providerId="LiveId" clId="{A5EA6D6F-0A4B-4006-85E2-1EFFB448C42D}" dt="2026-10-01T02:43:53.923" v="2196" actId="1076"/>
          <ac:spMkLst>
            <pc:docMk/>
            <pc:sldMk cId="0" sldId="257"/>
            <ac:spMk id="16" creationId="{00000000-0000-0000-0000-000000000000}"/>
          </ac:spMkLst>
        </pc:spChg>
        <pc:spChg chg="mod">
          <ac:chgData name="Patricia Elizabeth Olguin" userId="bec4288ea8c1abfb" providerId="LiveId" clId="{A5EA6D6F-0A4B-4006-85E2-1EFFB448C42D}" dt="2026-10-01T02:45:03.104" v="2200" actId="14100"/>
          <ac:spMkLst>
            <pc:docMk/>
            <pc:sldMk cId="0" sldId="257"/>
            <ac:spMk id="17" creationId="{00000000-0000-0000-0000-000000000000}"/>
          </ac:spMkLst>
        </pc:spChg>
        <pc:spChg chg="mod">
          <ac:chgData name="Patricia Elizabeth Olguin" userId="bec4288ea8c1abfb" providerId="LiveId" clId="{A5EA6D6F-0A4B-4006-85E2-1EFFB448C42D}" dt="2026-10-01T02:45:29.243" v="2203" actId="14100"/>
          <ac:spMkLst>
            <pc:docMk/>
            <pc:sldMk cId="0" sldId="257"/>
            <ac:spMk id="18" creationId="{00000000-0000-0000-0000-000000000000}"/>
          </ac:spMkLst>
        </pc:spChg>
        <pc:spChg chg="mod">
          <ac:chgData name="Patricia Elizabeth Olguin" userId="bec4288ea8c1abfb" providerId="LiveId" clId="{A5EA6D6F-0A4B-4006-85E2-1EFFB448C42D}" dt="2026-10-01T02:45:24.753" v="2202" actId="1076"/>
          <ac:spMkLst>
            <pc:docMk/>
            <pc:sldMk cId="0" sldId="257"/>
            <ac:spMk id="19" creationId="{00000000-0000-0000-0000-000000000000}"/>
          </ac:spMkLst>
        </pc:spChg>
        <pc:spChg chg="mod">
          <ac:chgData name="Patricia Elizabeth Olguin" userId="bec4288ea8c1abfb" providerId="LiveId" clId="{A5EA6D6F-0A4B-4006-85E2-1EFFB448C42D}" dt="2026-10-01T02:45:09.781" v="2201" actId="1076"/>
          <ac:spMkLst>
            <pc:docMk/>
            <pc:sldMk cId="0" sldId="257"/>
            <ac:spMk id="20" creationId="{00000000-0000-0000-0000-000000000000}"/>
          </ac:spMkLst>
        </pc:spChg>
      </pc:sldChg>
      <pc:sldChg chg="modNotesTx">
        <pc:chgData name="Patricia Elizabeth Olguin" userId="bec4288ea8c1abfb" providerId="LiveId" clId="{A5EA6D6F-0A4B-4006-85E2-1EFFB448C42D}" dt="2026-10-01T02:49:12.719" v="2209" actId="207"/>
        <pc:sldMkLst>
          <pc:docMk/>
          <pc:sldMk cId="0" sldId="258"/>
        </pc:sldMkLst>
      </pc:sldChg>
      <pc:sldChg chg="modSp mod">
        <pc:chgData name="Patricia Elizabeth Olguin" userId="bec4288ea8c1abfb" providerId="LiveId" clId="{A5EA6D6F-0A4B-4006-85E2-1EFFB448C42D}" dt="2026-10-01T02:52:58.448" v="2212" actId="20577"/>
        <pc:sldMkLst>
          <pc:docMk/>
          <pc:sldMk cId="0" sldId="261"/>
        </pc:sldMkLst>
        <pc:spChg chg="mod">
          <ac:chgData name="Patricia Elizabeth Olguin" userId="bec4288ea8c1abfb" providerId="LiveId" clId="{A5EA6D6F-0A4B-4006-85E2-1EFFB448C42D}" dt="2026-10-01T02:52:58.448" v="2212" actId="20577"/>
          <ac:spMkLst>
            <pc:docMk/>
            <pc:sldMk cId="0" sldId="261"/>
            <ac:spMk id="13" creationId="{00000000-0000-0000-0000-000000000000}"/>
          </ac:spMkLst>
        </pc:spChg>
      </pc:sldChg>
      <pc:sldChg chg="modNotesTx">
        <pc:chgData name="Patricia Elizabeth Olguin" userId="bec4288ea8c1abfb" providerId="LiveId" clId="{A5EA6D6F-0A4B-4006-85E2-1EFFB448C42D}" dt="2026-10-01T02:57:20.718" v="2300" actId="20577"/>
        <pc:sldMkLst>
          <pc:docMk/>
          <pc:sldMk cId="0" sldId="262"/>
        </pc:sldMkLst>
      </pc:sldChg>
      <pc:sldChg chg="addSp modSp mod">
        <pc:chgData name="Patricia Elizabeth Olguin" userId="bec4288ea8c1abfb" providerId="LiveId" clId="{A5EA6D6F-0A4B-4006-85E2-1EFFB448C42D}" dt="2026-10-01T03:07:46.803" v="2491" actId="3626"/>
        <pc:sldMkLst>
          <pc:docMk/>
          <pc:sldMk cId="0" sldId="264"/>
        </pc:sldMkLst>
        <pc:spChg chg="add mod">
          <ac:chgData name="Patricia Elizabeth Olguin" userId="bec4288ea8c1abfb" providerId="LiveId" clId="{A5EA6D6F-0A4B-4006-85E2-1EFFB448C42D}" dt="2026-10-01T03:07:46.803" v="2491" actId="3626"/>
          <ac:spMkLst>
            <pc:docMk/>
            <pc:sldMk cId="0" sldId="264"/>
            <ac:spMk id="13" creationId="{1A716AEB-0631-9F24-6E37-64AA03C67021}"/>
          </ac:spMkLst>
        </pc:spChg>
      </pc:sldChg>
      <pc:sldChg chg="modNotesTx">
        <pc:chgData name="Patricia Elizabeth Olguin" userId="bec4288ea8c1abfb" providerId="LiveId" clId="{A5EA6D6F-0A4B-4006-85E2-1EFFB448C42D}" dt="2026-10-01T03:04:09.662" v="2488" actId="20577"/>
        <pc:sldMkLst>
          <pc:docMk/>
          <pc:sldMk cId="0" sldId="265"/>
        </pc:sldMkLst>
      </pc:sldChg>
      <pc:sldChg chg="new del">
        <pc:chgData name="Patricia Elizabeth Olguin" userId="bec4288ea8c1abfb" providerId="LiveId" clId="{A5EA6D6F-0A4B-4006-85E2-1EFFB448C42D}" dt="2026-10-01T02:09:49.518" v="63" actId="47"/>
        <pc:sldMkLst>
          <pc:docMk/>
          <pc:sldMk cId="3231939306" sldId="26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4037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0:15] Hola, mi </a:t>
            </a:r>
            <a:r>
              <a:rPr lang="en-US" dirty="0" err="1"/>
              <a:t>nombre</a:t>
            </a:r>
            <a:r>
              <a:rPr lang="en-US" dirty="0"/>
              <a:t> es Patricia Olguín y </a:t>
            </a:r>
            <a:r>
              <a:rPr lang="en-US" dirty="0" err="1"/>
              <a:t>voy</a:t>
            </a:r>
            <a:r>
              <a:rPr lang="en-US" dirty="0"/>
              <a:t> a presenter mi Trabajo Fin de </a:t>
            </a:r>
            <a:r>
              <a:rPr lang="en-US" dirty="0" err="1"/>
              <a:t>Máster</a:t>
            </a:r>
            <a:r>
              <a:rPr lang="en-US" dirty="0"/>
              <a:t> </a:t>
            </a:r>
            <a:r>
              <a:rPr lang="en-US" dirty="0" err="1"/>
              <a:t>titulado</a:t>
            </a:r>
            <a:r>
              <a:rPr lang="en-US" dirty="0"/>
              <a:t> “</a:t>
            </a:r>
            <a:r>
              <a:rPr lang="en-US" dirty="0" err="1"/>
              <a:t>Determinantes</a:t>
            </a:r>
            <a:r>
              <a:rPr lang="en-US" dirty="0"/>
              <a:t> y predicción del salario de las </a:t>
            </a:r>
            <a:r>
              <a:rPr lang="en-US" dirty="0" err="1"/>
              <a:t>mujeres</a:t>
            </a:r>
            <a:r>
              <a:rPr lang="en-US" dirty="0"/>
              <a:t> </a:t>
            </a:r>
            <a:r>
              <a:rPr lang="en-US" dirty="0" err="1"/>
              <a:t>asalariadas</a:t>
            </a:r>
            <a:r>
              <a:rPr lang="en-US" dirty="0"/>
              <a:t> </a:t>
            </a:r>
            <a:r>
              <a:rPr lang="en-US" dirty="0" err="1"/>
              <a:t>en</a:t>
            </a:r>
            <a:r>
              <a:rPr lang="en-US" dirty="0"/>
              <a:t> Argentina </a:t>
            </a:r>
            <a:r>
              <a:rPr lang="en-US" dirty="0" err="1"/>
              <a:t>en</a:t>
            </a:r>
            <a:r>
              <a:rPr lang="en-US" dirty="0"/>
              <a:t> el </a:t>
            </a:r>
            <a:r>
              <a:rPr lang="en-US" dirty="0" err="1"/>
              <a:t>período</a:t>
            </a:r>
            <a:r>
              <a:rPr lang="en-US" dirty="0"/>
              <a:t> 2024-2026. Este </a:t>
            </a:r>
            <a:r>
              <a:rPr lang="en-US" dirty="0" err="1"/>
              <a:t>caso</a:t>
            </a:r>
            <a:r>
              <a:rPr lang="en-US" dirty="0"/>
              <a:t> se </a:t>
            </a:r>
            <a:r>
              <a:rPr lang="en-US" dirty="0" err="1"/>
              <a:t>analiza</a:t>
            </a:r>
            <a:r>
              <a:rPr lang="en-US" dirty="0"/>
              <a:t> </a:t>
            </a:r>
            <a:r>
              <a:rPr lang="en-US" dirty="0" err="1"/>
              <a:t>en</a:t>
            </a:r>
            <a:r>
              <a:rPr lang="en-US" dirty="0"/>
              <a:t> </a:t>
            </a:r>
            <a:r>
              <a:rPr lang="en-US" dirty="0" err="1"/>
              <a:t>comparación</a:t>
            </a:r>
            <a:r>
              <a:rPr lang="en-US" dirty="0"/>
              <a:t> con </a:t>
            </a:r>
            <a:r>
              <a:rPr lang="en-US" dirty="0" err="1"/>
              <a:t>Brasil</a:t>
            </a:r>
            <a:r>
              <a:rPr lang="en-US" dirty="0"/>
              <a:t> y España y </a:t>
            </a:r>
            <a:r>
              <a:rPr lang="en-US" dirty="0" err="1"/>
              <a:t>ofrece</a:t>
            </a:r>
            <a:r>
              <a:rPr lang="en-US" dirty="0"/>
              <a:t> </a:t>
            </a:r>
            <a:r>
              <a:rPr lang="en-US" dirty="0" err="1"/>
              <a:t>una</a:t>
            </a:r>
            <a:r>
              <a:rPr lang="en-US" dirty="0"/>
              <a:t> </a:t>
            </a:r>
            <a:r>
              <a:rPr lang="en-US" dirty="0" err="1"/>
              <a:t>herramienta</a:t>
            </a:r>
            <a:r>
              <a:rPr lang="en-US" dirty="0"/>
              <a:t> de </a:t>
            </a:r>
            <a:r>
              <a:rPr lang="en-US" dirty="0" err="1"/>
              <a:t>referencia</a:t>
            </a:r>
            <a:r>
              <a:rPr lang="en-US" dirty="0"/>
              <a:t> </a:t>
            </a:r>
            <a:r>
              <a:rPr lang="en-US" dirty="0" err="1"/>
              <a:t>salarial</a:t>
            </a:r>
            <a:r>
              <a:rPr lang="en-US" dirty="0"/>
              <a:t> (</a:t>
            </a:r>
            <a:r>
              <a:rPr lang="en-US" dirty="0" err="1"/>
              <a:t>que</a:t>
            </a:r>
            <a:r>
              <a:rPr lang="en-US" dirty="0"/>
              <a:t> </a:t>
            </a:r>
            <a:r>
              <a:rPr lang="en-US" dirty="0" err="1"/>
              <a:t>consiste</a:t>
            </a:r>
            <a:r>
              <a:rPr lang="en-US" dirty="0"/>
              <a:t> </a:t>
            </a:r>
            <a:r>
              <a:rPr lang="en-US" dirty="0" err="1"/>
              <a:t>en</a:t>
            </a:r>
            <a:r>
              <a:rPr lang="en-US" dirty="0"/>
              <a:t> el </a:t>
            </a:r>
            <a:r>
              <a:rPr lang="en-US" dirty="0" err="1"/>
              <a:t>diseño</a:t>
            </a:r>
            <a:r>
              <a:rPr lang="en-US" dirty="0"/>
              <a:t> de </a:t>
            </a:r>
            <a:r>
              <a:rPr lang="en-US" dirty="0" err="1"/>
              <a:t>una</a:t>
            </a:r>
            <a:r>
              <a:rPr lang="en-US" dirty="0"/>
              <a:t> </a:t>
            </a:r>
            <a:r>
              <a:rPr lang="en-US" dirty="0" err="1"/>
              <a:t>aplicación</a:t>
            </a:r>
            <a:r>
              <a:rPr lang="en-US" dirty="0"/>
              <a:t> web). </a:t>
            </a:r>
            <a:r>
              <a:rPr lang="en-US" dirty="0" err="1"/>
              <a:t>Actualmente</a:t>
            </a:r>
            <a:r>
              <a:rPr lang="en-US" dirty="0"/>
              <a:t> me </a:t>
            </a:r>
            <a:r>
              <a:rPr lang="en-US" dirty="0" err="1"/>
              <a:t>desempeño</a:t>
            </a:r>
            <a:r>
              <a:rPr lang="en-US" dirty="0"/>
              <a:t> </a:t>
            </a:r>
            <a:r>
              <a:rPr lang="en-US" dirty="0" err="1"/>
              <a:t>como</a:t>
            </a:r>
            <a:r>
              <a:rPr lang="en-US" dirty="0"/>
              <a:t> </a:t>
            </a:r>
            <a:r>
              <a:rPr lang="en-US" dirty="0" err="1"/>
              <a:t>investigadora</a:t>
            </a:r>
            <a:r>
              <a:rPr lang="en-US" dirty="0"/>
              <a:t> </a:t>
            </a:r>
            <a:r>
              <a:rPr lang="en-US" dirty="0" err="1"/>
              <a:t>en</a:t>
            </a:r>
            <a:r>
              <a:rPr lang="en-US" dirty="0"/>
              <a:t> el CONICET y </a:t>
            </a:r>
            <a:r>
              <a:rPr lang="en-US" dirty="0" err="1"/>
              <a:t>como</a:t>
            </a:r>
            <a:r>
              <a:rPr lang="en-US" dirty="0"/>
              <a:t> </a:t>
            </a:r>
            <a:r>
              <a:rPr lang="en-US" dirty="0" err="1"/>
              <a:t>profesora</a:t>
            </a:r>
            <a:r>
              <a:rPr lang="en-US" dirty="0"/>
              <a:t> </a:t>
            </a:r>
            <a:r>
              <a:rPr lang="en-US" dirty="0" err="1"/>
              <a:t>en</a:t>
            </a:r>
            <a:r>
              <a:rPr lang="en-US" dirty="0"/>
              <a:t> la FCE de le </a:t>
            </a:r>
            <a:r>
              <a:rPr lang="en-US" dirty="0" err="1"/>
              <a:t>UNCuyo</a:t>
            </a:r>
            <a:r>
              <a:rPr lang="en-US" dirty="0"/>
              <a:t>. </a:t>
            </a:r>
            <a:r>
              <a:rPr lang="en-US" dirty="0" err="1"/>
              <a:t>Algunas</a:t>
            </a:r>
            <a:r>
              <a:rPr lang="en-US" dirty="0"/>
              <a:t> de mis </a:t>
            </a:r>
            <a:r>
              <a:rPr lang="en-US" dirty="0" err="1"/>
              <a:t>líneas</a:t>
            </a:r>
            <a:r>
              <a:rPr lang="en-US" dirty="0"/>
              <a:t> de </a:t>
            </a:r>
            <a:r>
              <a:rPr lang="en-US" dirty="0" err="1"/>
              <a:t>investigación</a:t>
            </a:r>
            <a:r>
              <a:rPr lang="en-US" dirty="0"/>
              <a:t> se </a:t>
            </a:r>
            <a:r>
              <a:rPr lang="en-US" dirty="0" err="1"/>
              <a:t>han</a:t>
            </a:r>
            <a:r>
              <a:rPr lang="en-US" dirty="0"/>
              <a:t> </a:t>
            </a:r>
            <a:r>
              <a:rPr lang="en-US" dirty="0" err="1"/>
              <a:t>centrado</a:t>
            </a:r>
            <a:r>
              <a:rPr lang="en-US" dirty="0"/>
              <a:t> </a:t>
            </a:r>
            <a:r>
              <a:rPr lang="en-US" dirty="0" err="1"/>
              <a:t>en</a:t>
            </a:r>
            <a:r>
              <a:rPr lang="en-US" dirty="0"/>
              <a:t> el </a:t>
            </a:r>
            <a:r>
              <a:rPr lang="en-US" dirty="0" err="1"/>
              <a:t>impacto</a:t>
            </a:r>
            <a:r>
              <a:rPr lang="en-US" dirty="0"/>
              <a:t> de </a:t>
            </a:r>
            <a:r>
              <a:rPr lang="en-US" dirty="0" err="1"/>
              <a:t>los</a:t>
            </a:r>
            <a:r>
              <a:rPr lang="en-US" dirty="0"/>
              <a:t> </a:t>
            </a:r>
            <a:r>
              <a:rPr lang="en-US" dirty="0" err="1"/>
              <a:t>procesos</a:t>
            </a:r>
            <a:r>
              <a:rPr lang="en-US" dirty="0"/>
              <a:t> de </a:t>
            </a:r>
            <a:r>
              <a:rPr lang="en-US" dirty="0" err="1"/>
              <a:t>desarrollo</a:t>
            </a:r>
            <a:r>
              <a:rPr lang="en-US" dirty="0"/>
              <a:t>, crisis y </a:t>
            </a:r>
            <a:r>
              <a:rPr lang="en-US" dirty="0" err="1"/>
              <a:t>declinación</a:t>
            </a:r>
            <a:r>
              <a:rPr lang="en-US" dirty="0"/>
              <a:t> </a:t>
            </a:r>
            <a:r>
              <a:rPr lang="en-US" dirty="0" err="1"/>
              <a:t>económica</a:t>
            </a:r>
            <a:r>
              <a:rPr lang="en-US" dirty="0"/>
              <a:t> </a:t>
            </a:r>
            <a:r>
              <a:rPr lang="en-US" dirty="0" err="1"/>
              <a:t>en</a:t>
            </a:r>
            <a:r>
              <a:rPr lang="en-US" dirty="0"/>
              <a:t> las </a:t>
            </a:r>
            <a:r>
              <a:rPr lang="en-US" dirty="0" err="1"/>
              <a:t>condiciones</a:t>
            </a:r>
            <a:r>
              <a:rPr lang="en-US" dirty="0"/>
              <a:t> de </a:t>
            </a:r>
            <a:r>
              <a:rPr lang="en-US" dirty="0" err="1"/>
              <a:t>vida</a:t>
            </a:r>
            <a:r>
              <a:rPr lang="en-US" dirty="0"/>
              <a:t> de la población. De </a:t>
            </a:r>
            <a:r>
              <a:rPr lang="en-US" dirty="0" err="1"/>
              <a:t>manera</a:t>
            </a:r>
            <a:r>
              <a:rPr lang="en-US" dirty="0"/>
              <a:t> </a:t>
            </a:r>
            <a:r>
              <a:rPr lang="en-US" dirty="0" err="1"/>
              <a:t>que</a:t>
            </a:r>
            <a:r>
              <a:rPr lang="en-US" dirty="0"/>
              <a:t> </a:t>
            </a:r>
            <a:r>
              <a:rPr lang="en-US" dirty="0" err="1"/>
              <a:t>una</a:t>
            </a:r>
            <a:r>
              <a:rPr lang="en-US" dirty="0"/>
              <a:t> de mis </a:t>
            </a:r>
            <a:r>
              <a:rPr lang="en-US" dirty="0" err="1"/>
              <a:t>actividades</a:t>
            </a:r>
            <a:r>
              <a:rPr lang="en-US" dirty="0"/>
              <a:t> ha </a:t>
            </a:r>
            <a:r>
              <a:rPr lang="en-US" dirty="0" err="1"/>
              <a:t>sido</a:t>
            </a:r>
            <a:r>
              <a:rPr lang="en-US" dirty="0"/>
              <a:t> la </a:t>
            </a:r>
            <a:r>
              <a:rPr lang="en-US" dirty="0" err="1"/>
              <a:t>reconstrucción</a:t>
            </a:r>
            <a:r>
              <a:rPr lang="en-US" dirty="0"/>
              <a:t> de series </a:t>
            </a:r>
            <a:r>
              <a:rPr lang="en-US" dirty="0" err="1"/>
              <a:t>históricas</a:t>
            </a:r>
            <a:r>
              <a:rPr lang="en-US" dirty="0"/>
              <a:t> de </a:t>
            </a:r>
            <a:r>
              <a:rPr lang="en-US" dirty="0" err="1"/>
              <a:t>salarios</a:t>
            </a:r>
            <a:r>
              <a:rPr lang="en-US" dirty="0"/>
              <a:t> y de </a:t>
            </a:r>
            <a:r>
              <a:rPr lang="en-US" dirty="0" err="1"/>
              <a:t>indicadores</a:t>
            </a:r>
            <a:r>
              <a:rPr lang="en-US" dirty="0"/>
              <a:t> </a:t>
            </a:r>
            <a:r>
              <a:rPr lang="en-US" dirty="0" err="1"/>
              <a:t>que</a:t>
            </a:r>
            <a:r>
              <a:rPr lang="en-US" dirty="0"/>
              <a:t> </a:t>
            </a:r>
            <a:r>
              <a:rPr lang="en-US" dirty="0" err="1"/>
              <a:t>pemitan</a:t>
            </a:r>
            <a:r>
              <a:rPr lang="en-US" dirty="0"/>
              <a:t> </a:t>
            </a:r>
            <a:r>
              <a:rPr lang="en-US" dirty="0" err="1"/>
              <a:t>medir</a:t>
            </a:r>
            <a:r>
              <a:rPr lang="en-US" dirty="0"/>
              <a:t> </a:t>
            </a:r>
            <a:r>
              <a:rPr lang="en-US" dirty="0" err="1"/>
              <a:t>su</a:t>
            </a:r>
            <a:r>
              <a:rPr lang="en-US" dirty="0"/>
              <a:t> </a:t>
            </a:r>
            <a:r>
              <a:rPr lang="en-US" dirty="0" err="1"/>
              <a:t>poder</a:t>
            </a:r>
            <a:r>
              <a:rPr lang="en-US" dirty="0"/>
              <a:t> </a:t>
            </a:r>
            <a:r>
              <a:rPr lang="en-US" dirty="0" err="1"/>
              <a:t>compra</a:t>
            </a:r>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 0:45] La Encuesta Permanente de Hogares es la fuente más usada del mercado de trabajo argentino, pero sus cuadros no responden preguntas de negocio. La novedad del trabajo es obtener de los microdatos información que ningún cuadro publica: la prima salarial real de cada ciudad, el efecto de los polos energéticos y mineros, el welfare ratio para cualquier perfil y la brecha de género por grupo frente al umbral europeo del 5%.</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 1:15] </a:t>
            </a:r>
            <a:r>
              <a:rPr lang="en-US" dirty="0">
                <a:solidFill>
                  <a:srgbClr val="FF0000"/>
                </a:solidFill>
              </a:rPr>
              <a:t>Usamos nueve trimestres de la EPH, unos 97.000 registros, junto con la canasta básica regional del INDEC. El primer reto fue la inflación: el salario nominal se triplicó. Por eso la variable objetivo es el salario por hora relativo a la mediana del trimestre. Construimos además variables del hogar que la encuesta no pregunta, y separamos los datos por tiempo: entrenamos con 2024 y 2025 y evaluamos en 2026.</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 1:40] Comparamos seis modelos, de la ecuación de Mincer a LightGBM, que combina cientos de árboles de decisión, cada uno corrigiendo los errores del anterior. LightGBM explica el 44% del salario relativo en un trimestre que nunca vio; la regresión lineal, el 40%. Pero la prima del empleo registrado cayó del 34 al 19% en un año: hay que reentrenar cada trimestre.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 – 2:05] Con los valores SHAP, que reparten cada predicción entre las variables, vemos que lo que más diferencia el salario de una asalariada no es su formación, sino su empleo: registro, jornada, ocupación y actividad concentran el 63% de lo que explica el modelo; la educación y la experiencia, el 14%. Y cada hijo menor de seis años reduce seis puntos la probabilidad de trabajar.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 – 2:40] A igual perfil, la distancia salarial entre regiones es de 39 puntos en pesos, pero de 9 al descontar la canasta regional: la desventaja del Norte es sobre todo costo de vida. Con esa prima real medimos los polos de recursos: las ciudades petroleras ya pagan un 5,5% más en términos reales; las mineras, todavía no. No pronosticamos: en un escenario con la prima petrolera, la asalariada mediana minera ganaría unos 43.000 pesos más por mes.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 – 3:10] Para saber si el salario alcanza aplicamos el método de Robert Allen, </a:t>
            </a:r>
            <a:r>
              <a:rPr lang="en-US" dirty="0" err="1"/>
              <a:t>que</a:t>
            </a:r>
            <a:r>
              <a:rPr lang="en-US" dirty="0"/>
              <a:t> he </a:t>
            </a:r>
            <a:r>
              <a:rPr lang="en-US" dirty="0" err="1"/>
              <a:t>venido</a:t>
            </a:r>
            <a:r>
              <a:rPr lang="en-US" dirty="0"/>
              <a:t> </a:t>
            </a:r>
            <a:r>
              <a:rPr lang="en-US" dirty="0" err="1"/>
              <a:t>trabajando</a:t>
            </a:r>
            <a:r>
              <a:rPr lang="en-US" dirty="0"/>
              <a:t> para </a:t>
            </a:r>
            <a:r>
              <a:rPr lang="en-US" dirty="0" err="1"/>
              <a:t>décadas</a:t>
            </a:r>
            <a:r>
              <a:rPr lang="en-US" dirty="0"/>
              <a:t> </a:t>
            </a:r>
            <a:r>
              <a:rPr lang="en-US" dirty="0" err="1"/>
              <a:t>anteriores</a:t>
            </a:r>
            <a:r>
              <a:rPr lang="en-US" dirty="0"/>
              <a:t>: el salario a jornada completa dividido por la canasta básica regional del INDEC para una familia tipo de 3,09 adultos equivalentes. El salario mediano cubre solo tres cuartos de esa canasta; solo con título superior se supera. La paridad de poder adquisitivo queda para comparar países.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[3:10 – 3:40] Un modelo entrenado solo con varones estima cuánto cobraría cada mujer si su perfil se pagara igual. La brecha observada es del 4,8%, pero a igual perfil llega al 6,4%, sobre el umbral del 5% de la Directiva europea; en comercio, industria y servicios profesionales supera el 13%. Es la misma medida que aplica la auditoría de la aplicación.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[4:05 – 4:40] Todo se integra en una aplicación web. Su núcleo son las bandas salariales: una empresa no necesita un número sino un rango, que contiene el salario real de nueve de cada diez trabajadoras, junto con su welfare ratio. En la auditoría, una empresa carga su nómina anonimizada y ve quién cobra por debajo de la banda, cuánto costaría corregirlo y su brecha a igual perfil. El modelo se reentrena cada trimestre.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 – 5:15] En síntesis: el tipo de empleo pesa más que la formación; el territorio pesa menos de lo que parece y Vaca Muerta ya se nota; y el salario mediano no alcanza para una familia tipo. Los retos fueron la inflación, las variables del hogar y armonizar tres encuestas. Aprendimos a validar en el futuro y a medir antes que pronosticar. Como línea futura, extenderemos el análisis a las </a:t>
            </a:r>
            <a:r>
              <a:rPr lang="en-US" dirty="0" err="1"/>
              <a:t>ondas</a:t>
            </a:r>
            <a:r>
              <a:rPr lang="en-US" dirty="0"/>
              <a:t> de la EPH e </a:t>
            </a:r>
            <a:r>
              <a:rPr lang="en-US" dirty="0" err="1"/>
              <a:t>intentaremos</a:t>
            </a:r>
            <a:r>
              <a:rPr lang="en-US" dirty="0"/>
              <a:t> </a:t>
            </a:r>
            <a:r>
              <a:rPr lang="en-US" dirty="0" err="1"/>
              <a:t>estimar</a:t>
            </a:r>
            <a:r>
              <a:rPr lang="en-US" dirty="0"/>
              <a:t> </a:t>
            </a:r>
            <a:r>
              <a:rPr lang="en-US" dirty="0" err="1"/>
              <a:t>otros</a:t>
            </a:r>
            <a:r>
              <a:rPr lang="en-US" dirty="0"/>
              <a:t> </a:t>
            </a:r>
            <a:r>
              <a:rPr lang="en-US" dirty="0" err="1"/>
              <a:t>factores</a:t>
            </a:r>
            <a:r>
              <a:rPr lang="en-US" dirty="0"/>
              <a:t> </a:t>
            </a:r>
            <a:r>
              <a:rPr lang="en-US" dirty="0" err="1"/>
              <a:t>que</a:t>
            </a:r>
            <a:r>
              <a:rPr lang="en-US" dirty="0"/>
              <a:t> </a:t>
            </a:r>
            <a:r>
              <a:rPr lang="en-US" dirty="0" err="1"/>
              <a:t>influyen</a:t>
            </a:r>
            <a:r>
              <a:rPr lang="en-US" dirty="0"/>
              <a:t> </a:t>
            </a:r>
            <a:r>
              <a:rPr lang="en-US" dirty="0" err="1"/>
              <a:t>en</a:t>
            </a:r>
            <a:r>
              <a:rPr lang="en-US" dirty="0"/>
              <a:t> el Salario, </a:t>
            </a:r>
            <a:r>
              <a:rPr lang="en-US" dirty="0" err="1"/>
              <a:t>como</a:t>
            </a:r>
            <a:r>
              <a:rPr lang="en-US" dirty="0"/>
              <a:t> el </a:t>
            </a:r>
            <a:r>
              <a:rPr lang="en-US" dirty="0" err="1"/>
              <a:t>desempeño</a:t>
            </a:r>
            <a:r>
              <a:rPr lang="en-US" dirty="0"/>
              <a:t> personal.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 – 5:25] El notebook, el resumen y la aplicación están en el repositorio de GitHub. Muchas gracias por su atención.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 – 4:05] Para distinguir lo propio de lo general, repetimos el análisis con las mismas variables en Brasil y España. Cada mercado premia algo distinto: en Argentina pesa sobre todo cómo se contrata, con un 44% por el empleo registrado; en Brasil, la calificación, con un 65%; en España, el puesto que se ocupa. La brecha a igual perfil supera el 5% en los tres países. Y una hora de la asalariada mediana vale 6,3 dólares internacionales en Argentina, 4,2 en Brasil y 16,8 en España.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AF6"/>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94715"/>
            <a:ext cx="10566400" cy="391120"/>
          </a:xfrm>
          <a:prstGeom prst="rect">
            <a:avLst/>
          </a:prstGeom>
          <a:noFill/>
          <a:ln/>
        </p:spPr>
        <p:txBody>
          <a:bodyPr wrap="square" lIns="0" tIns="0" rIns="0" bIns="0" rtlCol="0" anchor="t"/>
          <a:lstStyle>
            <a:lvl1pPr marL="0" indent="0" algn="l">
              <a:lnSpc>
                <a:spcPct val="115000"/>
              </a:lnSpc>
              <a:buNone/>
              <a:defRPr lang="en-US" sz="2800" dirty="0">
                <a:solidFill>
                  <a:srgbClr val="264653"/>
                </a:solidFill>
                <a:latin typeface="Arial" pitchFamily="34" charset="0"/>
                <a:ea typeface="Arial" pitchFamily="34" charset="-122"/>
                <a:cs typeface="Arial"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790635"/>
            <a:ext cx="10566400" cy="4254565"/>
          </a:xfrm>
          <a:prstGeom prst="rect">
            <a:avLst/>
          </a:prstGeom>
          <a:noFill/>
          <a:ln/>
        </p:spPr>
        <p:txBody>
          <a:bodyPr wrap="square" lIns="0" tIns="0" rIns="0" bIns="0" rtlCol="0" anchor="t"/>
          <a:lstStyle>
            <a:lvl1pPr marL="0" indent="0" algn="l">
              <a:lnSpc>
                <a:spcPct val="140000"/>
              </a:lnSpc>
              <a:buNone/>
              <a:defRPr lang="en-US" sz="1600" dirty="0">
                <a:solidFill>
                  <a:srgbClr val="264653"/>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hyperlink" Target="https://tfm-olguin-patricia.streamlit.app/" TargetMode="Externa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_paises.png"/><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4653"/>
        </a:solidFill>
        <a:effectLst/>
      </p:bgPr>
    </p:bg>
    <p:spTree>
      <p:nvGrpSpPr>
        <p:cNvPr id="1" name=""/>
        <p:cNvGrpSpPr/>
        <p:nvPr/>
      </p:nvGrpSpPr>
      <p:grpSpPr>
        <a:xfrm>
          <a:off x="0" y="0"/>
          <a:ext cx="0" cy="0"/>
          <a:chOff x="0" y="0"/>
          <a:chExt cx="0" cy="0"/>
        </a:xfrm>
      </p:grpSpPr>
      <p:sp>
        <p:nvSpPr>
          <p:cNvPr id="2" name="Text 0"/>
          <p:cNvSpPr/>
          <p:nvPr/>
        </p:nvSpPr>
        <p:spPr>
          <a:xfrm>
            <a:off x="812800" y="845939"/>
            <a:ext cx="10883392" cy="523214"/>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BFD8D5"/>
                </a:solidFill>
                <a:latin typeface="Arial" pitchFamily="34" charset="0"/>
                <a:ea typeface="Arial" pitchFamily="34" charset="-122"/>
                <a:cs typeface="Arial" pitchFamily="34" charset="-120"/>
              </a:rPr>
              <a:t>UNIVERSIDAD COMPLUTENSE DE MADRID · MÁSTER EN DATA SCIENCE, BIG DATA &amp; BUSINESS ANALYTICS</a:t>
            </a:r>
            <a:endParaRPr lang="en-US" sz="1400" dirty="0"/>
          </a:p>
        </p:txBody>
      </p:sp>
      <p:sp>
        <p:nvSpPr>
          <p:cNvPr id="3" name="Text 1"/>
          <p:cNvSpPr/>
          <p:nvPr/>
        </p:nvSpPr>
        <p:spPr>
          <a:xfrm>
            <a:off x="812800" y="1597753"/>
            <a:ext cx="10883392" cy="274307"/>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E9C46A"/>
                </a:solidFill>
                <a:latin typeface="Arial" pitchFamily="34" charset="0"/>
                <a:ea typeface="Arial" pitchFamily="34" charset="-122"/>
                <a:cs typeface="Arial" pitchFamily="34" charset="-120"/>
              </a:rPr>
              <a:t>TRABAJO FIN DE MÁSTER</a:t>
            </a:r>
            <a:endParaRPr lang="en-US" sz="1400" dirty="0"/>
          </a:p>
        </p:txBody>
      </p:sp>
      <p:sp>
        <p:nvSpPr>
          <p:cNvPr id="4" name="Text 2"/>
          <p:cNvSpPr>
            <a:spLocks noGrp="1"/>
          </p:cNvSpPr>
          <p:nvPr>
            <p:ph type="title"/>
          </p:nvPr>
        </p:nvSpPr>
        <p:spPr>
          <a:xfrm>
            <a:off x="812800" y="2100659"/>
            <a:ext cx="10464800" cy="1869281"/>
          </a:xfrm>
          <a:prstGeom prst="rect">
            <a:avLst/>
          </a:prstGeom>
          <a:noFill/>
          <a:ln/>
        </p:spPr>
        <p:txBody>
          <a:bodyPr wrap="square" lIns="0" tIns="0" rIns="0" bIns="0" rtlCol="0" anchor="t">
            <a:normAutofit/>
          </a:bodyPr>
          <a:lstStyle/>
          <a:p>
            <a:pPr marL="0" indent="0" algn="l">
              <a:lnSpc>
                <a:spcPts val="4840"/>
              </a:lnSpc>
              <a:buNone/>
            </a:pPr>
            <a:r>
              <a:rPr lang="en-US" sz="4400" b="1" i="0" dirty="0">
                <a:solidFill>
                  <a:srgbClr val="FBFAF6"/>
                </a:solidFill>
                <a:latin typeface="Arial" pitchFamily="34" charset="0"/>
                <a:ea typeface="Arial" pitchFamily="34" charset="-122"/>
                <a:cs typeface="Arial" pitchFamily="34" charset="-120"/>
              </a:rPr>
              <a:t>Determinantes y predicción del salario de las </a:t>
            </a:r>
            <a:r>
              <a:rPr lang="en-US" sz="4400" b="1" i="0" dirty="0" err="1">
                <a:solidFill>
                  <a:srgbClr val="FBFAF6"/>
                </a:solidFill>
                <a:latin typeface="Arial" pitchFamily="34" charset="0"/>
                <a:ea typeface="Arial" pitchFamily="34" charset="-122"/>
                <a:cs typeface="Arial" pitchFamily="34" charset="-120"/>
              </a:rPr>
              <a:t>mujeres</a:t>
            </a:r>
            <a:r>
              <a:rPr lang="en-US" sz="4400" b="1" i="0" dirty="0">
                <a:solidFill>
                  <a:srgbClr val="FBFAF6"/>
                </a:solidFill>
                <a:latin typeface="Arial" pitchFamily="34" charset="0"/>
                <a:ea typeface="Arial" pitchFamily="34" charset="-122"/>
                <a:cs typeface="Arial" pitchFamily="34" charset="-120"/>
              </a:rPr>
              <a:t> </a:t>
            </a:r>
            <a:r>
              <a:rPr lang="en-US" sz="4400" b="1" dirty="0" err="1">
                <a:solidFill>
                  <a:srgbClr val="FBFAF6"/>
                </a:solidFill>
              </a:rPr>
              <a:t>asalariadas</a:t>
            </a:r>
            <a:r>
              <a:rPr lang="en-US" sz="4400" b="1" i="0" dirty="0">
                <a:solidFill>
                  <a:srgbClr val="FBFAF6"/>
                </a:solidFill>
                <a:latin typeface="Arial" pitchFamily="34" charset="0"/>
                <a:ea typeface="Arial" pitchFamily="34" charset="-122"/>
                <a:cs typeface="Arial" pitchFamily="34" charset="-120"/>
              </a:rPr>
              <a:t> en Argentina (2024-2026)</a:t>
            </a:r>
            <a:endParaRPr lang="en-US" sz="4400" dirty="0"/>
          </a:p>
        </p:txBody>
      </p:sp>
      <p:sp>
        <p:nvSpPr>
          <p:cNvPr id="5" name="Text 3"/>
          <p:cNvSpPr/>
          <p:nvPr/>
        </p:nvSpPr>
        <p:spPr>
          <a:xfrm>
            <a:off x="812800" y="4198541"/>
            <a:ext cx="9810750" cy="6858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BFD8D5"/>
                </a:solidFill>
                <a:latin typeface="Arial" pitchFamily="34" charset="0"/>
                <a:ea typeface="Arial" pitchFamily="34" charset="-122"/>
                <a:cs typeface="Arial" pitchFamily="34" charset="-120"/>
              </a:rPr>
              <a:t>Una </a:t>
            </a:r>
            <a:r>
              <a:rPr lang="en-US" sz="2000" dirty="0" err="1">
                <a:solidFill>
                  <a:srgbClr val="BFD8D5"/>
                </a:solidFill>
                <a:latin typeface="Arial" pitchFamily="34" charset="0"/>
                <a:ea typeface="Arial" pitchFamily="34" charset="-122"/>
                <a:cs typeface="Arial" pitchFamily="34" charset="-120"/>
              </a:rPr>
              <a:t>comparación</a:t>
            </a:r>
            <a:r>
              <a:rPr lang="en-US" sz="2000" dirty="0">
                <a:solidFill>
                  <a:srgbClr val="BFD8D5"/>
                </a:solidFill>
                <a:latin typeface="Arial" pitchFamily="34" charset="0"/>
                <a:ea typeface="Arial" pitchFamily="34" charset="-122"/>
                <a:cs typeface="Arial" pitchFamily="34" charset="-120"/>
              </a:rPr>
              <a:t> con </a:t>
            </a:r>
            <a:r>
              <a:rPr lang="en-US" sz="2000" dirty="0" err="1">
                <a:solidFill>
                  <a:srgbClr val="BFD8D5"/>
                </a:solidFill>
                <a:latin typeface="Arial" pitchFamily="34" charset="0"/>
                <a:ea typeface="Arial" pitchFamily="34" charset="-122"/>
                <a:cs typeface="Arial" pitchFamily="34" charset="-120"/>
              </a:rPr>
              <a:t>Brasil</a:t>
            </a:r>
            <a:r>
              <a:rPr lang="en-US" sz="2000" dirty="0">
                <a:solidFill>
                  <a:srgbClr val="BFD8D5"/>
                </a:solidFill>
                <a:latin typeface="Arial" pitchFamily="34" charset="0"/>
                <a:ea typeface="Arial" pitchFamily="34" charset="-122"/>
                <a:cs typeface="Arial" pitchFamily="34" charset="-120"/>
              </a:rPr>
              <a:t> y España y </a:t>
            </a:r>
            <a:r>
              <a:rPr lang="en-US" sz="2000" dirty="0" err="1">
                <a:solidFill>
                  <a:srgbClr val="BFD8D5"/>
                </a:solidFill>
                <a:latin typeface="Arial" pitchFamily="34" charset="0"/>
                <a:ea typeface="Arial" pitchFamily="34" charset="-122"/>
                <a:cs typeface="Arial" pitchFamily="34" charset="-120"/>
              </a:rPr>
              <a:t>una</a:t>
            </a:r>
            <a:r>
              <a:rPr lang="en-US" sz="2000" dirty="0">
                <a:solidFill>
                  <a:srgbClr val="BFD8D5"/>
                </a:solidFill>
                <a:latin typeface="Arial" pitchFamily="34" charset="0"/>
                <a:ea typeface="Arial" pitchFamily="34" charset="-122"/>
                <a:cs typeface="Arial" pitchFamily="34" charset="-120"/>
              </a:rPr>
              <a:t> </a:t>
            </a:r>
            <a:r>
              <a:rPr lang="en-US" sz="2000" dirty="0" err="1">
                <a:solidFill>
                  <a:srgbClr val="BFD8D5"/>
                </a:solidFill>
                <a:latin typeface="Arial" pitchFamily="34" charset="0"/>
                <a:ea typeface="Arial" pitchFamily="34" charset="-122"/>
                <a:cs typeface="Arial" pitchFamily="34" charset="-120"/>
              </a:rPr>
              <a:t>herramienta</a:t>
            </a:r>
            <a:r>
              <a:rPr lang="en-US" sz="2000" dirty="0">
                <a:solidFill>
                  <a:srgbClr val="BFD8D5"/>
                </a:solidFill>
                <a:latin typeface="Arial" pitchFamily="34" charset="0"/>
                <a:ea typeface="Arial" pitchFamily="34" charset="-122"/>
                <a:cs typeface="Arial" pitchFamily="34" charset="-120"/>
              </a:rPr>
              <a:t> de </a:t>
            </a:r>
            <a:r>
              <a:rPr lang="en-US" sz="2000" dirty="0" err="1">
                <a:solidFill>
                  <a:srgbClr val="BFD8D5"/>
                </a:solidFill>
                <a:latin typeface="Arial" pitchFamily="34" charset="0"/>
                <a:ea typeface="Arial" pitchFamily="34" charset="-122"/>
                <a:cs typeface="Arial" pitchFamily="34" charset="-120"/>
              </a:rPr>
              <a:t>referencia</a:t>
            </a:r>
            <a:r>
              <a:rPr lang="en-US" sz="2000" dirty="0">
                <a:solidFill>
                  <a:srgbClr val="BFD8D5"/>
                </a:solidFill>
                <a:latin typeface="Arial" pitchFamily="34" charset="0"/>
                <a:ea typeface="Arial" pitchFamily="34" charset="-122"/>
                <a:cs typeface="Arial" pitchFamily="34" charset="-120"/>
              </a:rPr>
              <a:t> </a:t>
            </a:r>
            <a:r>
              <a:rPr lang="en-US" sz="2000" dirty="0" err="1">
                <a:solidFill>
                  <a:srgbClr val="BFD8D5"/>
                </a:solidFill>
                <a:latin typeface="Arial" pitchFamily="34" charset="0"/>
                <a:ea typeface="Arial" pitchFamily="34" charset="-122"/>
                <a:cs typeface="Arial" pitchFamily="34" charset="-120"/>
              </a:rPr>
              <a:t>salarial</a:t>
            </a:r>
            <a:endParaRPr lang="en-US" sz="2000" dirty="0"/>
          </a:p>
        </p:txBody>
      </p:sp>
      <p:sp>
        <p:nvSpPr>
          <p:cNvPr id="6" name="Shape 4"/>
          <p:cNvSpPr/>
          <p:nvPr/>
        </p:nvSpPr>
        <p:spPr>
          <a:xfrm>
            <a:off x="812800" y="5112941"/>
            <a:ext cx="2328333" cy="76200"/>
          </a:xfrm>
          <a:prstGeom prst="rect">
            <a:avLst/>
          </a:prstGeom>
          <a:solidFill>
            <a:srgbClr val="2A9D8F"/>
          </a:solidFill>
          <a:ln/>
        </p:spPr>
        <p:txBody>
          <a:bodyPr/>
          <a:lstStyle/>
          <a:p>
            <a:endParaRPr lang="es-AR"/>
          </a:p>
        </p:txBody>
      </p:sp>
      <p:sp>
        <p:nvSpPr>
          <p:cNvPr id="7" name="Shape 5"/>
          <p:cNvSpPr/>
          <p:nvPr/>
        </p:nvSpPr>
        <p:spPr>
          <a:xfrm>
            <a:off x="3141133" y="5112941"/>
            <a:ext cx="2328333" cy="76200"/>
          </a:xfrm>
          <a:prstGeom prst="rect">
            <a:avLst/>
          </a:prstGeom>
          <a:solidFill>
            <a:srgbClr val="E9C46A"/>
          </a:solidFill>
          <a:ln/>
        </p:spPr>
        <p:txBody>
          <a:bodyPr/>
          <a:lstStyle/>
          <a:p>
            <a:endParaRPr lang="es-AR"/>
          </a:p>
        </p:txBody>
      </p:sp>
      <p:sp>
        <p:nvSpPr>
          <p:cNvPr id="8" name="Shape 6"/>
          <p:cNvSpPr/>
          <p:nvPr/>
        </p:nvSpPr>
        <p:spPr>
          <a:xfrm>
            <a:off x="5469467" y="5112941"/>
            <a:ext cx="2328333" cy="76200"/>
          </a:xfrm>
          <a:prstGeom prst="rect">
            <a:avLst/>
          </a:prstGeom>
          <a:solidFill>
            <a:srgbClr val="E76F51"/>
          </a:solidFill>
          <a:ln/>
        </p:spPr>
        <p:txBody>
          <a:bodyPr/>
          <a:lstStyle/>
          <a:p>
            <a:endParaRPr lang="es-AR"/>
          </a:p>
        </p:txBody>
      </p:sp>
      <p:sp>
        <p:nvSpPr>
          <p:cNvPr id="9" name="Text 7"/>
          <p:cNvSpPr/>
          <p:nvPr/>
        </p:nvSpPr>
        <p:spPr>
          <a:xfrm>
            <a:off x="812800" y="5443141"/>
            <a:ext cx="10883392" cy="594254"/>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BFAF6"/>
                </a:solidFill>
                <a:latin typeface="Arial" pitchFamily="34" charset="0"/>
                <a:ea typeface="Arial" pitchFamily="34" charset="-122"/>
                <a:cs typeface="Arial" pitchFamily="34" charset="-120"/>
              </a:rPr>
              <a:t>Patricia Elizabeth Olguín</a:t>
            </a:r>
            <a:endParaRPr lang="en-US" sz="1600" dirty="0"/>
          </a:p>
          <a:p>
            <a:pPr marL="0" indent="0" algn="l">
              <a:lnSpc>
                <a:spcPts val="2240"/>
              </a:lnSpc>
              <a:buNone/>
            </a:pPr>
            <a:r>
              <a:rPr lang="en-US" sz="1600" b="1" dirty="0">
                <a:solidFill>
                  <a:srgbClr val="BFD8D5"/>
                </a:solidFill>
                <a:latin typeface="Arial" pitchFamily="34" charset="0"/>
                <a:ea typeface="Arial" pitchFamily="34" charset="-122"/>
                <a:cs typeface="Arial" pitchFamily="34" charset="-120"/>
              </a:rPr>
              <a:t>Tutores: Carlos Ortega y Santiago Mota · Septiembre de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A9D8F"/>
                </a:solidFill>
                <a:latin typeface="Arial" pitchFamily="34" charset="0"/>
                <a:ea typeface="Arial" pitchFamily="34" charset="-122"/>
                <a:cs typeface="Arial" pitchFamily="34" charset="-120"/>
              </a:rPr>
              <a:t>JUSTIFICACIÓN Y NOVEDAD</a:t>
            </a:r>
            <a:endParaRPr lang="en-US" sz="1300" dirty="0"/>
          </a:p>
        </p:txBody>
      </p:sp>
      <p:sp>
        <p:nvSpPr>
          <p:cNvPr id="3" name="Text 1"/>
          <p:cNvSpPr>
            <a:spLocks noGrp="1"/>
          </p:cNvSpPr>
          <p:nvPr>
            <p:ph type="title"/>
          </p:nvPr>
        </p:nvSpPr>
        <p:spPr>
          <a:xfrm>
            <a:off x="812800" y="1094714"/>
            <a:ext cx="10883392" cy="743050"/>
          </a:xfrm>
          <a:prstGeom prst="rect">
            <a:avLst/>
          </a:prstGeom>
          <a:noFill/>
          <a:ln/>
        </p:spPr>
        <p:txBody>
          <a:bodyPr wrap="square" lIns="0" tIns="0" rIns="0" bIns="0" rtlCol="0" anchor="t">
            <a:normAutofit fontScale="90000"/>
          </a:bodyPr>
          <a:lstStyle/>
          <a:p>
            <a:pPr marL="0" indent="0" algn="l">
              <a:lnSpc>
                <a:spcPts val="3080"/>
              </a:lnSpc>
              <a:buNone/>
            </a:pPr>
            <a:r>
              <a:rPr lang="en-US" sz="2800" b="1" i="0" dirty="0" err="1">
                <a:solidFill>
                  <a:srgbClr val="264653"/>
                </a:solidFill>
                <a:latin typeface="Arial" pitchFamily="34" charset="0"/>
                <a:ea typeface="Arial" pitchFamily="34" charset="-122"/>
                <a:cs typeface="Arial" pitchFamily="34" charset="-120"/>
              </a:rPr>
              <a:t>Combinar</a:t>
            </a:r>
            <a:r>
              <a:rPr lang="en-US" sz="2800" b="1" i="0" dirty="0">
                <a:solidFill>
                  <a:srgbClr val="264653"/>
                </a:solidFill>
                <a:latin typeface="Arial" pitchFamily="34" charset="0"/>
                <a:ea typeface="Arial" pitchFamily="34" charset="-122"/>
                <a:cs typeface="Arial" pitchFamily="34" charset="-120"/>
              </a:rPr>
              <a:t> mis </a:t>
            </a:r>
            <a:r>
              <a:rPr lang="en-US" sz="2800" b="1" i="0" dirty="0" err="1">
                <a:solidFill>
                  <a:srgbClr val="264653"/>
                </a:solidFill>
                <a:latin typeface="Arial" pitchFamily="34" charset="0"/>
                <a:ea typeface="Arial" pitchFamily="34" charset="-122"/>
                <a:cs typeface="Arial" pitchFamily="34" charset="-120"/>
              </a:rPr>
              <a:t>intereses</a:t>
            </a:r>
            <a:r>
              <a:rPr lang="en-US" sz="2800" b="1" i="0" dirty="0">
                <a:solidFill>
                  <a:srgbClr val="264653"/>
                </a:solidFill>
                <a:latin typeface="Arial" pitchFamily="34" charset="0"/>
                <a:ea typeface="Arial" pitchFamily="34" charset="-122"/>
                <a:cs typeface="Arial" pitchFamily="34" charset="-120"/>
              </a:rPr>
              <a:t> de </a:t>
            </a:r>
            <a:r>
              <a:rPr lang="en-US" sz="2800" b="1" i="0" dirty="0" err="1">
                <a:solidFill>
                  <a:srgbClr val="264653"/>
                </a:solidFill>
                <a:latin typeface="Arial" pitchFamily="34" charset="0"/>
                <a:ea typeface="Arial" pitchFamily="34" charset="-122"/>
                <a:cs typeface="Arial" pitchFamily="34" charset="-120"/>
              </a:rPr>
              <a:t>investigación</a:t>
            </a:r>
            <a:r>
              <a:rPr lang="en-US" b="1" dirty="0"/>
              <a:t> con </a:t>
            </a:r>
            <a:r>
              <a:rPr lang="en-US" b="1" dirty="0" err="1"/>
              <a:t>los</a:t>
            </a:r>
            <a:r>
              <a:rPr lang="en-US" b="1" dirty="0"/>
              <a:t> </a:t>
            </a:r>
            <a:r>
              <a:rPr lang="en-US" b="1" dirty="0" err="1"/>
              <a:t>que</a:t>
            </a:r>
            <a:r>
              <a:rPr lang="en-US" b="1" dirty="0"/>
              <a:t> </a:t>
            </a:r>
            <a:r>
              <a:rPr lang="en-US" b="1" dirty="0" err="1"/>
              <a:t>podría</a:t>
            </a:r>
            <a:r>
              <a:rPr lang="en-US" b="1" dirty="0"/>
              <a:t> </a:t>
            </a:r>
            <a:r>
              <a:rPr lang="en-US" b="1" dirty="0" err="1"/>
              <a:t>tener</a:t>
            </a:r>
            <a:r>
              <a:rPr lang="en-US" b="1" dirty="0"/>
              <a:t> </a:t>
            </a:r>
            <a:r>
              <a:rPr lang="en-US" b="1" dirty="0" err="1"/>
              <a:t>una</a:t>
            </a:r>
            <a:r>
              <a:rPr lang="en-US" b="1" dirty="0"/>
              <a:t> </a:t>
            </a:r>
            <a:r>
              <a:rPr lang="en-US" b="1" dirty="0" err="1"/>
              <a:t>empresa</a:t>
            </a:r>
            <a:r>
              <a:rPr lang="en-US" b="1" dirty="0"/>
              <a:t>. </a:t>
            </a:r>
            <a:endParaRPr lang="en-US" sz="2800" dirty="0"/>
          </a:p>
        </p:txBody>
      </p:sp>
      <p:sp>
        <p:nvSpPr>
          <p:cNvPr id="4" name="Text 2"/>
          <p:cNvSpPr/>
          <p:nvPr/>
        </p:nvSpPr>
        <p:spPr>
          <a:xfrm>
            <a:off x="863600" y="2121495"/>
            <a:ext cx="10464800" cy="878681"/>
          </a:xfrm>
          <a:prstGeom prst="rect">
            <a:avLst/>
          </a:prstGeom>
          <a:noFill/>
          <a:ln/>
        </p:spPr>
        <p:txBody>
          <a:bodyPr wrap="square" lIns="0" tIns="0" rIns="0" bIns="0" rtlCol="0" anchor="t">
            <a:normAutofit/>
          </a:bodyPr>
          <a:lstStyle/>
          <a:p>
            <a:pPr marL="0" indent="0" algn="l">
              <a:lnSpc>
                <a:spcPts val="2240"/>
              </a:lnSpc>
              <a:buNone/>
            </a:pPr>
            <a:r>
              <a:rPr lang="en-US" sz="1600" b="1" dirty="0" err="1">
                <a:solidFill>
                  <a:srgbClr val="3D4A55"/>
                </a:solidFill>
                <a:latin typeface="Arial" pitchFamily="34" charset="0"/>
                <a:ea typeface="Arial" pitchFamily="34" charset="-122"/>
                <a:cs typeface="Arial" pitchFamily="34" charset="-120"/>
              </a:rPr>
              <a:t>Microdatos</a:t>
            </a:r>
            <a:r>
              <a:rPr lang="en-US" sz="1600" b="1" dirty="0">
                <a:solidFill>
                  <a:srgbClr val="3D4A55"/>
                </a:solidFill>
                <a:latin typeface="Arial" pitchFamily="34" charset="0"/>
                <a:ea typeface="Arial" pitchFamily="34" charset="-122"/>
                <a:cs typeface="Arial" pitchFamily="34" charset="-120"/>
              </a:rPr>
              <a:t> de la EPH </a:t>
            </a:r>
            <a:r>
              <a:rPr lang="en-US" sz="1600" dirty="0">
                <a:solidFill>
                  <a:srgbClr val="3D4A55"/>
                </a:solidFill>
                <a:latin typeface="Arial" pitchFamily="34" charset="0"/>
                <a:ea typeface="Arial" pitchFamily="34" charset="-122"/>
                <a:cs typeface="Arial" pitchFamily="34" charset="-120"/>
              </a:rPr>
              <a:t>del INDEC, </a:t>
            </a:r>
            <a:r>
              <a:rPr lang="en-US" sz="1600" dirty="0" err="1">
                <a:solidFill>
                  <a:srgbClr val="3D4A55"/>
                </a:solidFill>
                <a:latin typeface="Arial" pitchFamily="34" charset="0"/>
                <a:ea typeface="Arial" pitchFamily="34" charset="-122"/>
                <a:cs typeface="Arial" pitchFamily="34" charset="-120"/>
              </a:rPr>
              <a:t>que</a:t>
            </a:r>
            <a:r>
              <a:rPr lang="en-US" sz="1600" dirty="0">
                <a:solidFill>
                  <a:srgbClr val="3D4A55"/>
                </a:solidFill>
                <a:latin typeface="Arial" pitchFamily="34" charset="0"/>
                <a:ea typeface="Arial" pitchFamily="34" charset="-122"/>
                <a:cs typeface="Arial" pitchFamily="34" charset="-120"/>
              </a:rPr>
              <a:t> es </a:t>
            </a:r>
            <a:r>
              <a:rPr lang="en-US" sz="1600" dirty="0" err="1">
                <a:solidFill>
                  <a:srgbClr val="3D4A55"/>
                </a:solidFill>
                <a:latin typeface="Arial" pitchFamily="34" charset="0"/>
                <a:ea typeface="Arial" pitchFamily="34" charset="-122"/>
                <a:cs typeface="Arial" pitchFamily="34" charset="-120"/>
              </a:rPr>
              <a:t>una</a:t>
            </a:r>
            <a:r>
              <a:rPr lang="en-US" sz="1600" dirty="0">
                <a:solidFill>
                  <a:srgbClr val="3D4A55"/>
                </a:solidFill>
                <a:latin typeface="Arial" pitchFamily="34" charset="0"/>
                <a:ea typeface="Arial" pitchFamily="34" charset="-122"/>
                <a:cs typeface="Arial" pitchFamily="34" charset="-120"/>
              </a:rPr>
              <a:t> </a:t>
            </a:r>
            <a:r>
              <a:rPr lang="en-US" sz="1600" dirty="0" err="1">
                <a:solidFill>
                  <a:srgbClr val="3D4A55"/>
                </a:solidFill>
                <a:latin typeface="Arial" pitchFamily="34" charset="0"/>
                <a:ea typeface="Arial" pitchFamily="34" charset="-122"/>
                <a:cs typeface="Arial" pitchFamily="34" charset="-120"/>
              </a:rPr>
              <a:t>fuente</a:t>
            </a:r>
            <a:r>
              <a:rPr lang="en-US" sz="1600" dirty="0">
                <a:solidFill>
                  <a:srgbClr val="3D4A55"/>
                </a:solidFill>
                <a:latin typeface="Arial" pitchFamily="34" charset="0"/>
                <a:ea typeface="Arial" pitchFamily="34" charset="-122"/>
                <a:cs typeface="Arial" pitchFamily="34" charset="-120"/>
              </a:rPr>
              <a:t> </a:t>
            </a:r>
            <a:r>
              <a:rPr lang="en-US" sz="1600" dirty="0" err="1">
                <a:solidFill>
                  <a:srgbClr val="3D4A55"/>
                </a:solidFill>
                <a:latin typeface="Arial" pitchFamily="34" charset="0"/>
                <a:ea typeface="Arial" pitchFamily="34" charset="-122"/>
                <a:cs typeface="Arial" pitchFamily="34" charset="-120"/>
              </a:rPr>
              <a:t>muy</a:t>
            </a:r>
            <a:r>
              <a:rPr lang="en-US" sz="1600" dirty="0">
                <a:solidFill>
                  <a:srgbClr val="3D4A55"/>
                </a:solidFill>
                <a:latin typeface="Arial" pitchFamily="34" charset="0"/>
                <a:ea typeface="Arial" pitchFamily="34" charset="-122"/>
                <a:cs typeface="Arial" pitchFamily="34" charset="-120"/>
              </a:rPr>
              <a:t> </a:t>
            </a:r>
            <a:r>
              <a:rPr lang="en-US" sz="1600" dirty="0" err="1">
                <a:solidFill>
                  <a:srgbClr val="3D4A55"/>
                </a:solidFill>
                <a:latin typeface="Arial" pitchFamily="34" charset="0"/>
                <a:ea typeface="Arial" pitchFamily="34" charset="-122"/>
                <a:cs typeface="Arial" pitchFamily="34" charset="-120"/>
              </a:rPr>
              <a:t>utilizada</a:t>
            </a:r>
            <a:r>
              <a:rPr lang="en-US" sz="1600" dirty="0">
                <a:solidFill>
                  <a:srgbClr val="3D4A55"/>
                </a:solidFill>
                <a:latin typeface="Arial" pitchFamily="34" charset="0"/>
                <a:ea typeface="Arial" pitchFamily="34" charset="-122"/>
                <a:cs typeface="Arial" pitchFamily="34" charset="-120"/>
              </a:rPr>
              <a:t>. Si bien sus cuadros no responden preguntas de </a:t>
            </a:r>
            <a:r>
              <a:rPr lang="en-US" sz="1600" dirty="0" err="1">
                <a:solidFill>
                  <a:srgbClr val="3D4A55"/>
                </a:solidFill>
                <a:latin typeface="Arial" pitchFamily="34" charset="0"/>
                <a:ea typeface="Arial" pitchFamily="34" charset="-122"/>
                <a:cs typeface="Arial" pitchFamily="34" charset="-120"/>
              </a:rPr>
              <a:t>negocio</a:t>
            </a:r>
            <a:r>
              <a:rPr lang="en-US" sz="1600" dirty="0">
                <a:solidFill>
                  <a:srgbClr val="3D4A55"/>
                </a:solidFill>
                <a:latin typeface="Arial" pitchFamily="34" charset="0"/>
                <a:ea typeface="Arial" pitchFamily="34" charset="-122"/>
                <a:cs typeface="Arial" pitchFamily="34" charset="-120"/>
              </a:rPr>
              <a:t>, los </a:t>
            </a:r>
            <a:r>
              <a:rPr lang="en-US" sz="1600" dirty="0" err="1">
                <a:solidFill>
                  <a:srgbClr val="3D4A55"/>
                </a:solidFill>
                <a:latin typeface="Arial" pitchFamily="34" charset="0"/>
                <a:ea typeface="Arial" pitchFamily="34" charset="-122"/>
                <a:cs typeface="Arial" pitchFamily="34" charset="-120"/>
              </a:rPr>
              <a:t>microdatos</a:t>
            </a:r>
            <a:r>
              <a:rPr lang="en-US" sz="1600" dirty="0">
                <a:solidFill>
                  <a:srgbClr val="3D4A55"/>
                </a:solidFill>
                <a:latin typeface="Arial" pitchFamily="34" charset="0"/>
                <a:ea typeface="Arial" pitchFamily="34" charset="-122"/>
                <a:cs typeface="Arial" pitchFamily="34" charset="-120"/>
              </a:rPr>
              <a:t> </a:t>
            </a:r>
            <a:r>
              <a:rPr lang="en-US" sz="1600" dirty="0" err="1">
                <a:solidFill>
                  <a:srgbClr val="3D4A55"/>
                </a:solidFill>
                <a:latin typeface="Arial" pitchFamily="34" charset="0"/>
                <a:ea typeface="Arial" pitchFamily="34" charset="-122"/>
                <a:cs typeface="Arial" pitchFamily="34" charset="-120"/>
              </a:rPr>
              <a:t>sí</a:t>
            </a:r>
            <a:r>
              <a:rPr lang="en-US" sz="1600" dirty="0">
                <a:solidFill>
                  <a:srgbClr val="3D4A55"/>
                </a:solidFill>
                <a:latin typeface="Arial" pitchFamily="34" charset="0"/>
                <a:ea typeface="Arial" pitchFamily="34" charset="-122"/>
                <a:cs typeface="Arial" pitchFamily="34" charset="-120"/>
              </a:rPr>
              <a:t> lo </a:t>
            </a:r>
            <a:r>
              <a:rPr lang="en-US" sz="1600" dirty="0" err="1">
                <a:solidFill>
                  <a:srgbClr val="3D4A55"/>
                </a:solidFill>
                <a:latin typeface="Arial" pitchFamily="34" charset="0"/>
                <a:ea typeface="Arial" pitchFamily="34" charset="-122"/>
                <a:cs typeface="Arial" pitchFamily="34" charset="-120"/>
              </a:rPr>
              <a:t>hacen</a:t>
            </a:r>
            <a:r>
              <a:rPr lang="en-US" sz="1600" dirty="0">
                <a:solidFill>
                  <a:srgbClr val="3D4A55"/>
                </a:solidFill>
                <a:latin typeface="Arial" pitchFamily="34" charset="0"/>
                <a:ea typeface="Arial" pitchFamily="34" charset="-122"/>
                <a:cs typeface="Arial" pitchFamily="34" charset="-120"/>
              </a:rPr>
              <a:t> </a:t>
            </a:r>
            <a:r>
              <a:rPr lang="en-US" sz="1600" dirty="0" err="1">
                <a:solidFill>
                  <a:srgbClr val="3D4A55"/>
                </a:solidFill>
                <a:latin typeface="Arial" pitchFamily="34" charset="0"/>
                <a:ea typeface="Arial" pitchFamily="34" charset="-122"/>
                <a:cs typeface="Arial" pitchFamily="34" charset="-120"/>
              </a:rPr>
              <a:t>cuando</a:t>
            </a:r>
            <a:r>
              <a:rPr lang="en-US" sz="1600" dirty="0">
                <a:solidFill>
                  <a:srgbClr val="3D4A55"/>
                </a:solidFill>
                <a:latin typeface="Arial" pitchFamily="34" charset="0"/>
                <a:ea typeface="Arial" pitchFamily="34" charset="-122"/>
                <a:cs typeface="Arial" pitchFamily="34" charset="-120"/>
              </a:rPr>
              <a:t> se </a:t>
            </a:r>
            <a:r>
              <a:rPr lang="en-US" sz="1600" dirty="0" err="1">
                <a:solidFill>
                  <a:srgbClr val="3D4A55"/>
                </a:solidFill>
                <a:latin typeface="Arial" pitchFamily="34" charset="0"/>
                <a:ea typeface="Arial" pitchFamily="34" charset="-122"/>
                <a:cs typeface="Arial" pitchFamily="34" charset="-120"/>
              </a:rPr>
              <a:t>encuentran</a:t>
            </a:r>
            <a:r>
              <a:rPr lang="en-US" sz="1600" dirty="0">
                <a:solidFill>
                  <a:srgbClr val="3D4A55"/>
                </a:solidFill>
                <a:latin typeface="Arial" pitchFamily="34" charset="0"/>
                <a:ea typeface="Arial" pitchFamily="34" charset="-122"/>
                <a:cs typeface="Arial" pitchFamily="34" charset="-120"/>
              </a:rPr>
              <a:t> </a:t>
            </a:r>
            <a:r>
              <a:rPr lang="en-US" sz="1600" b="1" dirty="0" err="1">
                <a:solidFill>
                  <a:srgbClr val="3D4A55"/>
                </a:solidFill>
                <a:latin typeface="Arial" pitchFamily="34" charset="0"/>
                <a:ea typeface="Arial" pitchFamily="34" charset="-122"/>
                <a:cs typeface="Arial" pitchFamily="34" charset="-120"/>
              </a:rPr>
              <a:t>combinados</a:t>
            </a:r>
            <a:r>
              <a:rPr lang="en-US" sz="1600" dirty="0">
                <a:solidFill>
                  <a:srgbClr val="3D4A55"/>
                </a:solidFill>
                <a:latin typeface="Arial" pitchFamily="34" charset="0"/>
                <a:ea typeface="Arial" pitchFamily="34" charset="-122"/>
                <a:cs typeface="Arial" pitchFamily="34" charset="-120"/>
              </a:rPr>
              <a:t>, </a:t>
            </a:r>
            <a:r>
              <a:rPr lang="en-US" sz="1600" dirty="0" err="1">
                <a:solidFill>
                  <a:srgbClr val="3D4A55"/>
                </a:solidFill>
                <a:latin typeface="Arial" pitchFamily="34" charset="0"/>
                <a:ea typeface="Arial" pitchFamily="34" charset="-122"/>
                <a:cs typeface="Arial" pitchFamily="34" charset="-120"/>
              </a:rPr>
              <a:t>por</a:t>
            </a:r>
            <a:r>
              <a:rPr lang="en-US" sz="1600" dirty="0">
                <a:solidFill>
                  <a:srgbClr val="3D4A55"/>
                </a:solidFill>
                <a:latin typeface="Arial" pitchFamily="34" charset="0"/>
                <a:ea typeface="Arial" pitchFamily="34" charset="-122"/>
                <a:cs typeface="Arial" pitchFamily="34" charset="-120"/>
              </a:rPr>
              <a:t> </a:t>
            </a:r>
            <a:r>
              <a:rPr lang="en-US" sz="1600" dirty="0" err="1">
                <a:solidFill>
                  <a:srgbClr val="3D4A55"/>
                </a:solidFill>
                <a:latin typeface="Arial" pitchFamily="34" charset="0"/>
                <a:ea typeface="Arial" pitchFamily="34" charset="-122"/>
                <a:cs typeface="Arial" pitchFamily="34" charset="-120"/>
              </a:rPr>
              <a:t>ejemplo</a:t>
            </a:r>
            <a:r>
              <a:rPr lang="en-US" sz="1600" dirty="0">
                <a:solidFill>
                  <a:srgbClr val="3D4A55"/>
                </a:solidFill>
                <a:latin typeface="Arial" pitchFamily="34" charset="0"/>
                <a:ea typeface="Arial" pitchFamily="34" charset="-122"/>
                <a:cs typeface="Arial" pitchFamily="34" charset="-120"/>
              </a:rPr>
              <a:t>, con la canasta básica regional y aprendizaje automático interpretable.</a:t>
            </a:r>
            <a:endParaRPr lang="en-US" sz="1600" dirty="0"/>
          </a:p>
        </p:txBody>
      </p:sp>
      <p:sp>
        <p:nvSpPr>
          <p:cNvPr id="5" name="Shape 3"/>
          <p:cNvSpPr/>
          <p:nvPr/>
        </p:nvSpPr>
        <p:spPr>
          <a:xfrm>
            <a:off x="812800" y="3614143"/>
            <a:ext cx="2508250" cy="2227858"/>
          </a:xfrm>
          <a:prstGeom prst="roundRect">
            <a:avLst>
              <a:gd name="adj" fmla="val 2025"/>
            </a:avLst>
          </a:prstGeom>
          <a:solidFill>
            <a:srgbClr val="FFFFFF"/>
          </a:solidFill>
          <a:ln/>
        </p:spPr>
        <p:txBody>
          <a:bodyPr/>
          <a:lstStyle/>
          <a:p>
            <a:endParaRPr lang="es-AR"/>
          </a:p>
        </p:txBody>
      </p:sp>
      <p:sp>
        <p:nvSpPr>
          <p:cNvPr id="6" name="Shape 4"/>
          <p:cNvSpPr/>
          <p:nvPr/>
        </p:nvSpPr>
        <p:spPr>
          <a:xfrm>
            <a:off x="800100" y="3538225"/>
            <a:ext cx="2508250" cy="2225061"/>
          </a:xfrm>
          <a:custGeom>
            <a:avLst/>
            <a:gdLst/>
            <a:ahLst/>
            <a:cxnLst/>
            <a:rect l="l" t="t" r="r" b="b"/>
            <a:pathLst>
              <a:path w="2508250" h="3096485">
                <a:moveTo>
                  <a:pt x="0" y="63500"/>
                </a:moveTo>
                <a:lnTo>
                  <a:pt x="0" y="50800"/>
                </a:lnTo>
                <a:arcTo wR="50800" hR="50800" stAng="10800000" swAng="5400000"/>
                <a:lnTo>
                  <a:pt x="2457450" y="0"/>
                </a:lnTo>
                <a:arcTo wR="50800" hR="50800" stAng="16200000" swAng="5400000"/>
                <a:lnTo>
                  <a:pt x="2508250" y="63500"/>
                </a:lnTo>
                <a:lnTo>
                  <a:pt x="0" y="63500"/>
                </a:lnTo>
                <a:close/>
              </a:path>
            </a:pathLst>
          </a:custGeom>
          <a:solidFill>
            <a:srgbClr val="2A9D8F"/>
          </a:solidFill>
          <a:ln/>
        </p:spPr>
        <p:txBody>
          <a:bodyPr/>
          <a:lstStyle/>
          <a:p>
            <a:endParaRPr lang="es-AR"/>
          </a:p>
        </p:txBody>
      </p:sp>
      <p:sp>
        <p:nvSpPr>
          <p:cNvPr id="7" name="Text 5"/>
          <p:cNvSpPr/>
          <p:nvPr/>
        </p:nvSpPr>
        <p:spPr>
          <a:xfrm>
            <a:off x="952944" y="3868847"/>
            <a:ext cx="2164906" cy="288264"/>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264653"/>
                </a:solidFill>
                <a:latin typeface="Arial" pitchFamily="34" charset="0"/>
                <a:ea typeface="Arial" pitchFamily="34" charset="-122"/>
                <a:cs typeface="Arial" pitchFamily="34" charset="-120"/>
              </a:rPr>
              <a:t>Prima salarial real</a:t>
            </a:r>
            <a:endParaRPr lang="en-US" sz="1800" dirty="0"/>
          </a:p>
        </p:txBody>
      </p:sp>
      <p:sp>
        <p:nvSpPr>
          <p:cNvPr id="8" name="Text 6"/>
          <p:cNvSpPr/>
          <p:nvPr/>
        </p:nvSpPr>
        <p:spPr>
          <a:xfrm>
            <a:off x="984472" y="4533476"/>
            <a:ext cx="2164906" cy="719733"/>
          </a:xfrm>
          <a:prstGeom prst="rect">
            <a:avLst/>
          </a:prstGeom>
          <a:noFill/>
          <a:ln/>
        </p:spPr>
        <p:txBody>
          <a:bodyPr wrap="square" lIns="0" tIns="0" rIns="0" bIns="0" rtlCol="0" anchor="t">
            <a:normAutofit/>
          </a:bodyPr>
          <a:lstStyle/>
          <a:p>
            <a:pPr marL="0" indent="0" algn="l">
              <a:lnSpc>
                <a:spcPts val="1823"/>
              </a:lnSpc>
              <a:buNone/>
            </a:pPr>
            <a:r>
              <a:rPr lang="en-US" sz="1350" dirty="0">
                <a:solidFill>
                  <a:srgbClr val="3D4A55"/>
                </a:solidFill>
                <a:latin typeface="Arial" pitchFamily="34" charset="0"/>
                <a:ea typeface="Arial" pitchFamily="34" charset="-122"/>
                <a:cs typeface="Arial" pitchFamily="34" charset="-120"/>
              </a:rPr>
              <a:t>Cuánto paga cada ciudad a igual perfil, descontado su costo de vida</a:t>
            </a:r>
            <a:endParaRPr lang="en-US" sz="1350" dirty="0"/>
          </a:p>
        </p:txBody>
      </p:sp>
      <p:sp>
        <p:nvSpPr>
          <p:cNvPr id="9" name="Shape 7"/>
          <p:cNvSpPr/>
          <p:nvPr/>
        </p:nvSpPr>
        <p:spPr>
          <a:xfrm>
            <a:off x="3498850" y="3614143"/>
            <a:ext cx="2508250" cy="2227857"/>
          </a:xfrm>
          <a:prstGeom prst="roundRect">
            <a:avLst>
              <a:gd name="adj" fmla="val 2025"/>
            </a:avLst>
          </a:prstGeom>
          <a:solidFill>
            <a:srgbClr val="FFFFFF"/>
          </a:solidFill>
          <a:ln/>
        </p:spPr>
        <p:txBody>
          <a:bodyPr/>
          <a:lstStyle/>
          <a:p>
            <a:endParaRPr lang="es-AR"/>
          </a:p>
        </p:txBody>
      </p:sp>
      <p:sp>
        <p:nvSpPr>
          <p:cNvPr id="10" name="Shape 8"/>
          <p:cNvSpPr/>
          <p:nvPr/>
        </p:nvSpPr>
        <p:spPr>
          <a:xfrm>
            <a:off x="3498850" y="3538225"/>
            <a:ext cx="2508250" cy="2303775"/>
          </a:xfrm>
          <a:custGeom>
            <a:avLst/>
            <a:gdLst/>
            <a:ahLst/>
            <a:cxnLst/>
            <a:rect l="l" t="t" r="r" b="b"/>
            <a:pathLst>
              <a:path w="2508250" h="3096485">
                <a:moveTo>
                  <a:pt x="0" y="63500"/>
                </a:moveTo>
                <a:lnTo>
                  <a:pt x="0" y="50800"/>
                </a:lnTo>
                <a:arcTo wR="50800" hR="50800" stAng="10800000" swAng="5400000"/>
                <a:lnTo>
                  <a:pt x="2457450" y="0"/>
                </a:lnTo>
                <a:arcTo wR="50800" hR="50800" stAng="16200000" swAng="5400000"/>
                <a:lnTo>
                  <a:pt x="2508250" y="63500"/>
                </a:lnTo>
                <a:lnTo>
                  <a:pt x="0" y="63500"/>
                </a:lnTo>
                <a:close/>
              </a:path>
            </a:pathLst>
          </a:custGeom>
          <a:solidFill>
            <a:srgbClr val="E9C46A"/>
          </a:solidFill>
          <a:ln/>
        </p:spPr>
        <p:txBody>
          <a:bodyPr/>
          <a:lstStyle/>
          <a:p>
            <a:endParaRPr lang="es-AR"/>
          </a:p>
        </p:txBody>
      </p:sp>
      <p:sp>
        <p:nvSpPr>
          <p:cNvPr id="11" name="Text 9"/>
          <p:cNvSpPr/>
          <p:nvPr/>
        </p:nvSpPr>
        <p:spPr>
          <a:xfrm>
            <a:off x="3670522" y="3868847"/>
            <a:ext cx="2164906" cy="288264"/>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264653"/>
                </a:solidFill>
                <a:latin typeface="Arial" pitchFamily="34" charset="0"/>
                <a:ea typeface="Arial" pitchFamily="34" charset="-122"/>
                <a:cs typeface="Arial" pitchFamily="34" charset="-120"/>
              </a:rPr>
              <a:t>Polos de </a:t>
            </a:r>
            <a:r>
              <a:rPr lang="en-US" sz="1800" b="1" dirty="0" err="1">
                <a:solidFill>
                  <a:srgbClr val="264653"/>
                </a:solidFill>
                <a:latin typeface="Arial" pitchFamily="34" charset="0"/>
                <a:ea typeface="Arial" pitchFamily="34" charset="-122"/>
                <a:cs typeface="Arial" pitchFamily="34" charset="-120"/>
              </a:rPr>
              <a:t>recursos</a:t>
            </a:r>
            <a:endParaRPr lang="en-US" sz="1800" dirty="0"/>
          </a:p>
        </p:txBody>
      </p:sp>
      <p:sp>
        <p:nvSpPr>
          <p:cNvPr id="12" name="Text 10"/>
          <p:cNvSpPr/>
          <p:nvPr/>
        </p:nvSpPr>
        <p:spPr>
          <a:xfrm>
            <a:off x="3670522" y="4537028"/>
            <a:ext cx="2164906" cy="719733"/>
          </a:xfrm>
          <a:prstGeom prst="rect">
            <a:avLst/>
          </a:prstGeom>
          <a:noFill/>
          <a:ln/>
        </p:spPr>
        <p:txBody>
          <a:bodyPr wrap="square" lIns="0" tIns="0" rIns="0" bIns="0" rtlCol="0" anchor="t">
            <a:normAutofit/>
          </a:bodyPr>
          <a:lstStyle/>
          <a:p>
            <a:pPr marL="0" indent="0" algn="l">
              <a:lnSpc>
                <a:spcPts val="1823"/>
              </a:lnSpc>
              <a:buNone/>
            </a:pPr>
            <a:r>
              <a:rPr lang="en-US" sz="1350" dirty="0">
                <a:solidFill>
                  <a:srgbClr val="3D4A55"/>
                </a:solidFill>
                <a:latin typeface="Arial" pitchFamily="34" charset="0"/>
                <a:ea typeface="Arial" pitchFamily="34" charset="-122"/>
                <a:cs typeface="Arial" pitchFamily="34" charset="-120"/>
              </a:rPr>
              <a:t>Si Vaca Muerta y la minería ya llegan al salario de las mujeres</a:t>
            </a:r>
            <a:endParaRPr lang="en-US" sz="1350" dirty="0"/>
          </a:p>
        </p:txBody>
      </p:sp>
      <p:sp>
        <p:nvSpPr>
          <p:cNvPr id="13" name="Shape 11"/>
          <p:cNvSpPr/>
          <p:nvPr/>
        </p:nvSpPr>
        <p:spPr>
          <a:xfrm>
            <a:off x="6184900" y="3614142"/>
            <a:ext cx="2508250" cy="2227858"/>
          </a:xfrm>
          <a:prstGeom prst="roundRect">
            <a:avLst>
              <a:gd name="adj" fmla="val 2025"/>
            </a:avLst>
          </a:prstGeom>
          <a:solidFill>
            <a:srgbClr val="FFFFFF"/>
          </a:solidFill>
          <a:ln/>
        </p:spPr>
        <p:txBody>
          <a:bodyPr/>
          <a:lstStyle/>
          <a:p>
            <a:endParaRPr lang="es-AR"/>
          </a:p>
        </p:txBody>
      </p:sp>
      <p:sp>
        <p:nvSpPr>
          <p:cNvPr id="14" name="Shape 12"/>
          <p:cNvSpPr/>
          <p:nvPr/>
        </p:nvSpPr>
        <p:spPr>
          <a:xfrm>
            <a:off x="6184900" y="3538225"/>
            <a:ext cx="2508250" cy="2303775"/>
          </a:xfrm>
          <a:custGeom>
            <a:avLst/>
            <a:gdLst/>
            <a:ahLst/>
            <a:cxnLst/>
            <a:rect l="l" t="t" r="r" b="b"/>
            <a:pathLst>
              <a:path w="2508250" h="3096485">
                <a:moveTo>
                  <a:pt x="0" y="63500"/>
                </a:moveTo>
                <a:lnTo>
                  <a:pt x="0" y="50800"/>
                </a:lnTo>
                <a:arcTo wR="50800" hR="50800" stAng="10800000" swAng="5400000"/>
                <a:lnTo>
                  <a:pt x="2457450" y="0"/>
                </a:lnTo>
                <a:arcTo wR="50800" hR="50800" stAng="16200000" swAng="5400000"/>
                <a:lnTo>
                  <a:pt x="2508250" y="63500"/>
                </a:lnTo>
                <a:lnTo>
                  <a:pt x="0" y="63500"/>
                </a:lnTo>
                <a:close/>
              </a:path>
            </a:pathLst>
          </a:custGeom>
          <a:solidFill>
            <a:srgbClr val="E76F51"/>
          </a:solidFill>
          <a:ln/>
        </p:spPr>
        <p:txBody>
          <a:bodyPr/>
          <a:lstStyle/>
          <a:p>
            <a:endParaRPr lang="es-AR"/>
          </a:p>
        </p:txBody>
      </p:sp>
      <p:sp>
        <p:nvSpPr>
          <p:cNvPr id="15" name="Text 13"/>
          <p:cNvSpPr/>
          <p:nvPr/>
        </p:nvSpPr>
        <p:spPr>
          <a:xfrm>
            <a:off x="6356572" y="3868847"/>
            <a:ext cx="2164906" cy="551127"/>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264653"/>
                </a:solidFill>
                <a:latin typeface="Arial" pitchFamily="34" charset="0"/>
                <a:ea typeface="Arial" pitchFamily="34" charset="-122"/>
                <a:cs typeface="Arial" pitchFamily="34" charset="-120"/>
              </a:rPr>
              <a:t>Welfare ratio por perfil</a:t>
            </a:r>
            <a:endParaRPr lang="en-US" sz="1800" dirty="0"/>
          </a:p>
        </p:txBody>
      </p:sp>
      <p:sp>
        <p:nvSpPr>
          <p:cNvPr id="16" name="Text 14"/>
          <p:cNvSpPr/>
          <p:nvPr/>
        </p:nvSpPr>
        <p:spPr>
          <a:xfrm>
            <a:off x="6356572" y="4537028"/>
            <a:ext cx="2164906" cy="488289"/>
          </a:xfrm>
          <a:prstGeom prst="rect">
            <a:avLst/>
          </a:prstGeom>
          <a:noFill/>
          <a:ln/>
        </p:spPr>
        <p:txBody>
          <a:bodyPr wrap="square" lIns="0" tIns="0" rIns="0" bIns="0" rtlCol="0" anchor="t">
            <a:normAutofit/>
          </a:bodyPr>
          <a:lstStyle/>
          <a:p>
            <a:pPr marL="0" indent="0" algn="l">
              <a:lnSpc>
                <a:spcPts val="1823"/>
              </a:lnSpc>
              <a:buNone/>
            </a:pPr>
            <a:r>
              <a:rPr lang="en-US" sz="1350" dirty="0">
                <a:solidFill>
                  <a:srgbClr val="3D4A55"/>
                </a:solidFill>
                <a:latin typeface="Arial" pitchFamily="34" charset="0"/>
                <a:ea typeface="Arial" pitchFamily="34" charset="-122"/>
                <a:cs typeface="Arial" pitchFamily="34" charset="-120"/>
              </a:rPr>
              <a:t>Si un salario alcanza para sostener a una familia tipo</a:t>
            </a:r>
            <a:endParaRPr lang="en-US" sz="1350" dirty="0"/>
          </a:p>
        </p:txBody>
      </p:sp>
      <p:sp>
        <p:nvSpPr>
          <p:cNvPr id="17" name="Shape 15"/>
          <p:cNvSpPr/>
          <p:nvPr/>
        </p:nvSpPr>
        <p:spPr>
          <a:xfrm>
            <a:off x="8870950" y="3614142"/>
            <a:ext cx="2508250" cy="2227858"/>
          </a:xfrm>
          <a:prstGeom prst="roundRect">
            <a:avLst>
              <a:gd name="adj" fmla="val 2025"/>
            </a:avLst>
          </a:prstGeom>
          <a:solidFill>
            <a:srgbClr val="FFFFFF"/>
          </a:solidFill>
          <a:ln/>
        </p:spPr>
        <p:txBody>
          <a:bodyPr/>
          <a:lstStyle/>
          <a:p>
            <a:endParaRPr lang="es-AR"/>
          </a:p>
        </p:txBody>
      </p:sp>
      <p:sp>
        <p:nvSpPr>
          <p:cNvPr id="18" name="Shape 16"/>
          <p:cNvSpPr/>
          <p:nvPr/>
        </p:nvSpPr>
        <p:spPr>
          <a:xfrm>
            <a:off x="8870950" y="3538225"/>
            <a:ext cx="2508250" cy="2303775"/>
          </a:xfrm>
          <a:custGeom>
            <a:avLst/>
            <a:gdLst/>
            <a:ahLst/>
            <a:cxnLst/>
            <a:rect l="l" t="t" r="r" b="b"/>
            <a:pathLst>
              <a:path w="2508250" h="3096485">
                <a:moveTo>
                  <a:pt x="0" y="63500"/>
                </a:moveTo>
                <a:lnTo>
                  <a:pt x="0" y="50800"/>
                </a:lnTo>
                <a:arcTo wR="50800" hR="50800" stAng="10800000" swAng="5400000"/>
                <a:lnTo>
                  <a:pt x="2457450" y="0"/>
                </a:lnTo>
                <a:arcTo wR="50800" hR="50800" stAng="16200000" swAng="5400000"/>
                <a:lnTo>
                  <a:pt x="2508250" y="63500"/>
                </a:lnTo>
                <a:lnTo>
                  <a:pt x="0" y="63500"/>
                </a:lnTo>
                <a:close/>
              </a:path>
            </a:pathLst>
          </a:custGeom>
          <a:solidFill>
            <a:srgbClr val="264653"/>
          </a:solidFill>
          <a:ln/>
        </p:spPr>
        <p:txBody>
          <a:bodyPr/>
          <a:lstStyle/>
          <a:p>
            <a:endParaRPr lang="es-AR"/>
          </a:p>
        </p:txBody>
      </p:sp>
      <p:sp>
        <p:nvSpPr>
          <p:cNvPr id="19" name="Text 17"/>
          <p:cNvSpPr/>
          <p:nvPr/>
        </p:nvSpPr>
        <p:spPr>
          <a:xfrm>
            <a:off x="9074150" y="3873929"/>
            <a:ext cx="2164906" cy="288264"/>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264653"/>
                </a:solidFill>
                <a:latin typeface="Arial" pitchFamily="34" charset="0"/>
                <a:ea typeface="Arial" pitchFamily="34" charset="-122"/>
                <a:cs typeface="Arial" pitchFamily="34" charset="-120"/>
              </a:rPr>
              <a:t>Brecha por grupo</a:t>
            </a:r>
            <a:endParaRPr lang="en-US" sz="1800" dirty="0"/>
          </a:p>
        </p:txBody>
      </p:sp>
      <p:sp>
        <p:nvSpPr>
          <p:cNvPr id="20" name="Text 18"/>
          <p:cNvSpPr/>
          <p:nvPr/>
        </p:nvSpPr>
        <p:spPr>
          <a:xfrm>
            <a:off x="9074150" y="4533475"/>
            <a:ext cx="2164906" cy="719733"/>
          </a:xfrm>
          <a:prstGeom prst="rect">
            <a:avLst/>
          </a:prstGeom>
          <a:noFill/>
          <a:ln/>
        </p:spPr>
        <p:txBody>
          <a:bodyPr wrap="square" lIns="0" tIns="0" rIns="0" bIns="0" rtlCol="0" anchor="t">
            <a:normAutofit/>
          </a:bodyPr>
          <a:lstStyle/>
          <a:p>
            <a:pPr marL="0" indent="0" algn="l">
              <a:lnSpc>
                <a:spcPts val="1823"/>
              </a:lnSpc>
              <a:buNone/>
            </a:pPr>
            <a:r>
              <a:rPr lang="en-US" sz="1350" dirty="0">
                <a:solidFill>
                  <a:srgbClr val="3D4A55"/>
                </a:solidFill>
                <a:latin typeface="Arial" pitchFamily="34" charset="0"/>
                <a:ea typeface="Arial" pitchFamily="34" charset="-122"/>
                <a:cs typeface="Arial" pitchFamily="34" charset="-120"/>
              </a:rPr>
              <a:t>Brecha de género a igual perfil frente al umbral europeo del 5%</a:t>
            </a:r>
            <a:endParaRPr lang="en-US" sz="1350" dirty="0"/>
          </a:p>
        </p:txBody>
      </p:sp>
      <p:sp>
        <p:nvSpPr>
          <p:cNvPr id="21" name="Text 19"/>
          <p:cNvSpPr/>
          <p:nvPr/>
        </p:nvSpPr>
        <p:spPr>
          <a:xfrm>
            <a:off x="812800" y="62890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Arial" pitchFamily="34" charset="0"/>
                <a:ea typeface="Arial" pitchFamily="34" charset="-122"/>
                <a:cs typeface="Arial" pitchFamily="34" charset="-120"/>
              </a:rPr>
              <a:t>Determinantes y predicción del salario de las mujeres asalariadas en Argentina · TFM UCM</a:t>
            </a:r>
            <a:endParaRPr lang="en-US" sz="1200" dirty="0"/>
          </a:p>
        </p:txBody>
      </p:sp>
      <p:sp>
        <p:nvSpPr>
          <p:cNvPr id="22" name="Text 20"/>
          <p:cNvSpPr/>
          <p:nvPr/>
        </p:nvSpPr>
        <p:spPr>
          <a:xfrm>
            <a:off x="10058400" y="62890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64653"/>
                </a:solidFill>
                <a:latin typeface="Arial" pitchFamily="34" charset="0"/>
                <a:ea typeface="Arial" pitchFamily="34" charset="-122"/>
                <a:cs typeface="Arial" pitchFamily="34" charset="-120"/>
              </a:rPr>
              <a:t>2 / 12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A9D8F"/>
                </a:solidFill>
                <a:latin typeface="Arial" pitchFamily="34" charset="0"/>
                <a:ea typeface="Arial" pitchFamily="34" charset="-122"/>
                <a:cs typeface="Arial" pitchFamily="34" charset="-120"/>
              </a:rPr>
              <a:t>DATOS Y ENFOQUE</a:t>
            </a:r>
            <a:endParaRPr lang="en-US" sz="1300" dirty="0"/>
          </a:p>
        </p:txBody>
      </p:sp>
      <p:sp>
        <p:nvSpPr>
          <p:cNvPr id="3" name="Text 1"/>
          <p:cNvSpPr>
            <a:spLocks noGrp="1"/>
          </p:cNvSpPr>
          <p:nvPr>
            <p:ph type="title"/>
          </p:nvPr>
        </p:nvSpPr>
        <p:spPr>
          <a:xfrm>
            <a:off x="812800" y="1094715"/>
            <a:ext cx="10883392" cy="807641"/>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264653"/>
                </a:solidFill>
                <a:latin typeface="Arial" pitchFamily="34" charset="0"/>
                <a:ea typeface="Arial" pitchFamily="34" charset="-122"/>
                <a:cs typeface="Arial" pitchFamily="34" charset="-120"/>
              </a:rPr>
              <a:t>Microdatos de 9 trimestres y un salario que neutraliza la inflación</a:t>
            </a:r>
            <a:endParaRPr lang="en-US" sz="2800" dirty="0"/>
          </a:p>
        </p:txBody>
      </p:sp>
      <p:sp>
        <p:nvSpPr>
          <p:cNvPr id="4" name="Shape 2"/>
          <p:cNvSpPr/>
          <p:nvPr/>
        </p:nvSpPr>
        <p:spPr>
          <a:xfrm>
            <a:off x="812800" y="2077906"/>
            <a:ext cx="3302000" cy="1170781"/>
          </a:xfrm>
          <a:prstGeom prst="roundRect">
            <a:avLst>
              <a:gd name="adj" fmla="val 4339"/>
            </a:avLst>
          </a:prstGeom>
          <a:solidFill>
            <a:srgbClr val="FFFFFF"/>
          </a:solidFill>
          <a:ln/>
        </p:spPr>
        <p:txBody>
          <a:bodyPr/>
          <a:lstStyle/>
          <a:p>
            <a:endParaRPr lang="es-AR"/>
          </a:p>
        </p:txBody>
      </p:sp>
      <p:sp>
        <p:nvSpPr>
          <p:cNvPr id="5" name="Shape 3"/>
          <p:cNvSpPr/>
          <p:nvPr/>
        </p:nvSpPr>
        <p:spPr>
          <a:xfrm>
            <a:off x="812800" y="2077906"/>
            <a:ext cx="3302000" cy="1170781"/>
          </a:xfrm>
          <a:custGeom>
            <a:avLst/>
            <a:gdLst/>
            <a:ahLst/>
            <a:cxnLst/>
            <a:rect l="l" t="t" r="r" b="b"/>
            <a:pathLst>
              <a:path w="3302000" h="1170781">
                <a:moveTo>
                  <a:pt x="50800" y="1170781"/>
                </a:moveTo>
                <a:lnTo>
                  <a:pt x="50800" y="1170781"/>
                </a:lnTo>
                <a:arcTo wR="50800" hR="50800" stAng="5400000" swAng="5400000"/>
                <a:lnTo>
                  <a:pt x="0" y="50800"/>
                </a:lnTo>
                <a:arcTo wR="50800" hR="50800" stAng="10800000" swAng="5400000"/>
                <a:lnTo>
                  <a:pt x="50800" y="0"/>
                </a:lnTo>
                <a:lnTo>
                  <a:pt x="50800" y="1170781"/>
                </a:lnTo>
                <a:close/>
              </a:path>
            </a:pathLst>
          </a:custGeom>
          <a:solidFill>
            <a:srgbClr val="2A9D8F"/>
          </a:solidFill>
          <a:ln/>
        </p:spPr>
        <p:txBody>
          <a:bodyPr/>
          <a:lstStyle/>
          <a:p>
            <a:endParaRPr lang="es-AR"/>
          </a:p>
        </p:txBody>
      </p:sp>
      <p:sp>
        <p:nvSpPr>
          <p:cNvPr id="6" name="Text 4"/>
          <p:cNvSpPr/>
          <p:nvPr/>
        </p:nvSpPr>
        <p:spPr>
          <a:xfrm>
            <a:off x="1066800" y="2255706"/>
            <a:ext cx="2930144" cy="360627"/>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264653"/>
                </a:solidFill>
                <a:latin typeface="Arial" pitchFamily="34" charset="0"/>
                <a:ea typeface="Arial" pitchFamily="34" charset="-122"/>
                <a:cs typeface="Arial" pitchFamily="34" charset="-120"/>
              </a:rPr>
              <a:t>97.000</a:t>
            </a:r>
            <a:endParaRPr lang="en-US" sz="2400" dirty="0"/>
          </a:p>
        </p:txBody>
      </p:sp>
      <p:sp>
        <p:nvSpPr>
          <p:cNvPr id="7" name="Text 5"/>
          <p:cNvSpPr/>
          <p:nvPr/>
        </p:nvSpPr>
        <p:spPr>
          <a:xfrm>
            <a:off x="1066800" y="2641733"/>
            <a:ext cx="2930144" cy="454554"/>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D4A55"/>
                </a:solidFill>
                <a:latin typeface="Arial" pitchFamily="34" charset="0"/>
                <a:ea typeface="Arial" pitchFamily="34" charset="-122"/>
                <a:cs typeface="Arial" pitchFamily="34" charset="-120"/>
              </a:rPr>
              <a:t>registros de asalariados, 1T2024 a 1T2026</a:t>
            </a:r>
            <a:endParaRPr lang="en-US" sz="1300" dirty="0"/>
          </a:p>
        </p:txBody>
      </p:sp>
      <p:sp>
        <p:nvSpPr>
          <p:cNvPr id="8" name="Shape 6"/>
          <p:cNvSpPr/>
          <p:nvPr/>
        </p:nvSpPr>
        <p:spPr>
          <a:xfrm>
            <a:off x="812800" y="3375687"/>
            <a:ext cx="3302000" cy="1170781"/>
          </a:xfrm>
          <a:prstGeom prst="roundRect">
            <a:avLst>
              <a:gd name="adj" fmla="val 4339"/>
            </a:avLst>
          </a:prstGeom>
          <a:solidFill>
            <a:srgbClr val="FFFFFF"/>
          </a:solidFill>
          <a:ln/>
        </p:spPr>
        <p:txBody>
          <a:bodyPr/>
          <a:lstStyle/>
          <a:p>
            <a:endParaRPr lang="es-AR"/>
          </a:p>
        </p:txBody>
      </p:sp>
      <p:sp>
        <p:nvSpPr>
          <p:cNvPr id="9" name="Shape 7"/>
          <p:cNvSpPr/>
          <p:nvPr/>
        </p:nvSpPr>
        <p:spPr>
          <a:xfrm>
            <a:off x="812800" y="3375687"/>
            <a:ext cx="3302000" cy="1170781"/>
          </a:xfrm>
          <a:custGeom>
            <a:avLst/>
            <a:gdLst/>
            <a:ahLst/>
            <a:cxnLst/>
            <a:rect l="l" t="t" r="r" b="b"/>
            <a:pathLst>
              <a:path w="3302000" h="1170781">
                <a:moveTo>
                  <a:pt x="50800" y="1170781"/>
                </a:moveTo>
                <a:lnTo>
                  <a:pt x="50800" y="1170781"/>
                </a:lnTo>
                <a:arcTo wR="50800" hR="50800" stAng="5400000" swAng="5400000"/>
                <a:lnTo>
                  <a:pt x="0" y="50800"/>
                </a:lnTo>
                <a:arcTo wR="50800" hR="50800" stAng="10800000" swAng="5400000"/>
                <a:lnTo>
                  <a:pt x="50800" y="0"/>
                </a:lnTo>
                <a:lnTo>
                  <a:pt x="50800" y="1170781"/>
                </a:lnTo>
                <a:close/>
              </a:path>
            </a:pathLst>
          </a:custGeom>
          <a:solidFill>
            <a:srgbClr val="E9C46A"/>
          </a:solidFill>
          <a:ln/>
        </p:spPr>
        <p:txBody>
          <a:bodyPr/>
          <a:lstStyle/>
          <a:p>
            <a:endParaRPr lang="es-AR"/>
          </a:p>
        </p:txBody>
      </p:sp>
      <p:sp>
        <p:nvSpPr>
          <p:cNvPr id="10" name="Text 8"/>
          <p:cNvSpPr/>
          <p:nvPr/>
        </p:nvSpPr>
        <p:spPr>
          <a:xfrm>
            <a:off x="1066800" y="3553487"/>
            <a:ext cx="2930144" cy="360627"/>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264653"/>
                </a:solidFill>
                <a:latin typeface="Arial" pitchFamily="34" charset="0"/>
                <a:ea typeface="Arial" pitchFamily="34" charset="-122"/>
                <a:cs typeface="Arial" pitchFamily="34" charset="-120"/>
              </a:rPr>
              <a:t>319 → 26</a:t>
            </a:r>
            <a:endParaRPr lang="en-US" sz="2400" dirty="0"/>
          </a:p>
        </p:txBody>
      </p:sp>
      <p:sp>
        <p:nvSpPr>
          <p:cNvPr id="11" name="Text 9"/>
          <p:cNvSpPr/>
          <p:nvPr/>
        </p:nvSpPr>
        <p:spPr>
          <a:xfrm>
            <a:off x="1066800" y="3939515"/>
            <a:ext cx="2930144" cy="454554"/>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D4A55"/>
                </a:solidFill>
                <a:latin typeface="Arial" pitchFamily="34" charset="0"/>
                <a:ea typeface="Arial" pitchFamily="34" charset="-122"/>
                <a:cs typeface="Arial" pitchFamily="34" charset="-120"/>
              </a:rPr>
              <a:t>variables depuradas hasta 26 seleccionadas</a:t>
            </a:r>
            <a:endParaRPr lang="en-US" sz="1300" dirty="0"/>
          </a:p>
        </p:txBody>
      </p:sp>
      <p:sp>
        <p:nvSpPr>
          <p:cNvPr id="12" name="Shape 10"/>
          <p:cNvSpPr/>
          <p:nvPr/>
        </p:nvSpPr>
        <p:spPr>
          <a:xfrm>
            <a:off x="812800" y="4673468"/>
            <a:ext cx="3302000" cy="1170781"/>
          </a:xfrm>
          <a:prstGeom prst="roundRect">
            <a:avLst>
              <a:gd name="adj" fmla="val 4339"/>
            </a:avLst>
          </a:prstGeom>
          <a:solidFill>
            <a:srgbClr val="FFFFFF"/>
          </a:solidFill>
          <a:ln/>
        </p:spPr>
        <p:txBody>
          <a:bodyPr/>
          <a:lstStyle/>
          <a:p>
            <a:endParaRPr lang="es-AR"/>
          </a:p>
        </p:txBody>
      </p:sp>
      <p:sp>
        <p:nvSpPr>
          <p:cNvPr id="13" name="Shape 11"/>
          <p:cNvSpPr/>
          <p:nvPr/>
        </p:nvSpPr>
        <p:spPr>
          <a:xfrm>
            <a:off x="812800" y="4673468"/>
            <a:ext cx="3302000" cy="1170781"/>
          </a:xfrm>
          <a:custGeom>
            <a:avLst/>
            <a:gdLst/>
            <a:ahLst/>
            <a:cxnLst/>
            <a:rect l="l" t="t" r="r" b="b"/>
            <a:pathLst>
              <a:path w="3302000" h="1170781">
                <a:moveTo>
                  <a:pt x="50800" y="1170781"/>
                </a:moveTo>
                <a:lnTo>
                  <a:pt x="50800" y="1170781"/>
                </a:lnTo>
                <a:arcTo wR="50800" hR="50800" stAng="5400000" swAng="5400000"/>
                <a:lnTo>
                  <a:pt x="0" y="50800"/>
                </a:lnTo>
                <a:arcTo wR="50800" hR="50800" stAng="10800000" swAng="5400000"/>
                <a:lnTo>
                  <a:pt x="50800" y="0"/>
                </a:lnTo>
                <a:lnTo>
                  <a:pt x="50800" y="1170781"/>
                </a:lnTo>
                <a:close/>
              </a:path>
            </a:pathLst>
          </a:custGeom>
          <a:solidFill>
            <a:srgbClr val="E76F51"/>
          </a:solidFill>
          <a:ln/>
        </p:spPr>
        <p:txBody>
          <a:bodyPr/>
          <a:lstStyle/>
          <a:p>
            <a:endParaRPr lang="es-AR"/>
          </a:p>
        </p:txBody>
      </p:sp>
      <p:sp>
        <p:nvSpPr>
          <p:cNvPr id="14" name="Text 12"/>
          <p:cNvSpPr/>
          <p:nvPr/>
        </p:nvSpPr>
        <p:spPr>
          <a:xfrm>
            <a:off x="1066800" y="4851268"/>
            <a:ext cx="2930144" cy="360627"/>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264653"/>
                </a:solidFill>
                <a:latin typeface="Arial" pitchFamily="34" charset="0"/>
                <a:ea typeface="Arial" pitchFamily="34" charset="-122"/>
                <a:cs typeface="Arial" pitchFamily="34" charset="-120"/>
              </a:rPr>
              <a:t>1T2026</a:t>
            </a:r>
            <a:endParaRPr lang="en-US" sz="2400" dirty="0"/>
          </a:p>
        </p:txBody>
      </p:sp>
      <p:sp>
        <p:nvSpPr>
          <p:cNvPr id="15" name="Text 13"/>
          <p:cNvSpPr/>
          <p:nvPr/>
        </p:nvSpPr>
        <p:spPr>
          <a:xfrm>
            <a:off x="1066800" y="5237296"/>
            <a:ext cx="2930144" cy="454554"/>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D4A55"/>
                </a:solidFill>
                <a:latin typeface="Arial" pitchFamily="34" charset="0"/>
                <a:ea typeface="Arial" pitchFamily="34" charset="-122"/>
                <a:cs typeface="Arial" pitchFamily="34" charset="-120"/>
              </a:rPr>
              <a:t>trimestre de prueba que el modelo nunca vio</a:t>
            </a:r>
            <a:endParaRPr lang="en-US" sz="1300" dirty="0"/>
          </a:p>
        </p:txBody>
      </p:sp>
      <p:pic>
        <p:nvPicPr>
          <p:cNvPr id="16" name="Image 0" descr="Salario nominal y relativo por trimestre, y salario relativo según educación y registro"/>
          <p:cNvPicPr>
            <a:picLocks noChangeAspect="1"/>
          </p:cNvPicPr>
          <p:nvPr/>
        </p:nvPicPr>
        <p:blipFill>
          <a:blip r:embed="rId3"/>
          <a:srcRect t="-1221" b="-1221"/>
          <a:stretch/>
        </p:blipFill>
        <p:spPr>
          <a:xfrm>
            <a:off x="4368800" y="2622485"/>
            <a:ext cx="6985000" cy="2387600"/>
          </a:xfrm>
          <a:prstGeom prst="rect">
            <a:avLst/>
          </a:prstGeom>
        </p:spPr>
      </p:pic>
      <p:sp>
        <p:nvSpPr>
          <p:cNvPr id="17" name="Text 14"/>
          <p:cNvSpPr/>
          <p:nvPr/>
        </p:nvSpPr>
        <p:spPr>
          <a:xfrm>
            <a:off x="4368800" y="5086285"/>
            <a:ext cx="722071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Arial" pitchFamily="34" charset="0"/>
                <a:ea typeface="Arial" pitchFamily="34" charset="-122"/>
                <a:cs typeface="Arial" pitchFamily="34" charset="-120"/>
              </a:rPr>
              <a:t>El salario nominal se triplicó; la posición relativa de cada trabajadora se mantuvo estable.</a:t>
            </a:r>
            <a:endParaRPr lang="en-US" sz="1200" dirty="0"/>
          </a:p>
        </p:txBody>
      </p:sp>
      <p:sp>
        <p:nvSpPr>
          <p:cNvPr id="18" name="Text 15"/>
          <p:cNvSpPr/>
          <p:nvPr/>
        </p:nvSpPr>
        <p:spPr>
          <a:xfrm>
            <a:off x="812800" y="62890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Arial" pitchFamily="34" charset="0"/>
                <a:ea typeface="Arial" pitchFamily="34" charset="-122"/>
                <a:cs typeface="Arial" pitchFamily="34" charset="-120"/>
              </a:rPr>
              <a:t>Determinantes y predicción del salario de las mujeres asalariadas en Argentina · TFM UCM</a:t>
            </a:r>
            <a:endParaRPr lang="en-US" sz="1200" dirty="0"/>
          </a:p>
        </p:txBody>
      </p:sp>
      <p:sp>
        <p:nvSpPr>
          <p:cNvPr id="19" name="Text 16"/>
          <p:cNvSpPr/>
          <p:nvPr/>
        </p:nvSpPr>
        <p:spPr>
          <a:xfrm>
            <a:off x="10058400" y="62890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64653"/>
                </a:solidFill>
                <a:latin typeface="Arial" pitchFamily="34" charset="0"/>
                <a:ea typeface="Arial" pitchFamily="34" charset="-122"/>
                <a:cs typeface="Arial" pitchFamily="34" charset="-120"/>
              </a:rPr>
              <a:t>3 / 12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43152"/>
          </a:xfrm>
          <a:prstGeom prst="rect">
            <a:avLst/>
          </a:prstGeom>
          <a:noFill/>
          <a:ln/>
        </p:spPr>
        <p:txBody>
          <a:bodyPr wrap="square" lIns="0" tIns="0" rIns="0" bIns="0" rtlCol="0" anchor="t">
            <a:normAutofit/>
          </a:bodyPr>
          <a:lstStyle/>
          <a:p>
            <a:pPr marL="0" indent="0" algn="l">
              <a:lnSpc>
                <a:spcPts val="1723"/>
              </a:lnSpc>
              <a:buNone/>
            </a:pPr>
            <a:r>
              <a:rPr lang="en-US" sz="1231" b="1" kern="0" spc="100" dirty="0">
                <a:solidFill>
                  <a:srgbClr val="2A9D8F"/>
                </a:solidFill>
                <a:latin typeface="Arial" pitchFamily="34" charset="0"/>
                <a:ea typeface="Arial" pitchFamily="34" charset="-122"/>
                <a:cs typeface="Arial" pitchFamily="34" charset="-120"/>
              </a:rPr>
              <a:t>MODELOS Y VALIDACIÓN</a:t>
            </a:r>
            <a:endParaRPr lang="en-US" sz="1231" dirty="0"/>
          </a:p>
        </p:txBody>
      </p:sp>
      <p:sp>
        <p:nvSpPr>
          <p:cNvPr id="3" name="Text 1"/>
          <p:cNvSpPr>
            <a:spLocks noGrp="1"/>
          </p:cNvSpPr>
          <p:nvPr>
            <p:ph type="title"/>
          </p:nvPr>
        </p:nvSpPr>
        <p:spPr>
          <a:xfrm>
            <a:off x="812800" y="1081353"/>
            <a:ext cx="10883392" cy="762595"/>
          </a:xfrm>
          <a:prstGeom prst="rect">
            <a:avLst/>
          </a:prstGeom>
          <a:noFill/>
          <a:ln/>
        </p:spPr>
        <p:txBody>
          <a:bodyPr wrap="square" lIns="0" tIns="0" rIns="0" bIns="0" rtlCol="0" anchor="t">
            <a:normAutofit/>
          </a:bodyPr>
          <a:lstStyle/>
          <a:p>
            <a:pPr marL="0" indent="0" algn="l">
              <a:lnSpc>
                <a:spcPts val="2907"/>
              </a:lnSpc>
              <a:buNone/>
            </a:pPr>
            <a:r>
              <a:rPr lang="en-US" sz="2643" b="1" i="0" dirty="0">
                <a:solidFill>
                  <a:srgbClr val="264653"/>
                </a:solidFill>
                <a:latin typeface="Arial" pitchFamily="34" charset="0"/>
                <a:ea typeface="Arial" pitchFamily="34" charset="-122"/>
                <a:cs typeface="Arial" pitchFamily="34" charset="-120"/>
              </a:rPr>
              <a:t>El modelo predice a un año, pero los precios del mercado cambian</a:t>
            </a:r>
            <a:endParaRPr lang="en-US" sz="2643" dirty="0"/>
          </a:p>
        </p:txBody>
      </p:sp>
      <p:pic>
        <p:nvPicPr>
          <p:cNvPr id="4" name="Image 0" descr="R² de los modelos en validación y al predecir cada trimestre con todos los anteriores"/>
          <p:cNvPicPr>
            <a:picLocks noChangeAspect="1"/>
          </p:cNvPicPr>
          <p:nvPr/>
        </p:nvPicPr>
        <p:blipFill>
          <a:blip r:embed="rId3"/>
          <a:srcRect l="-36520" r="-36520"/>
          <a:stretch/>
        </p:blipFill>
        <p:spPr>
          <a:xfrm>
            <a:off x="812800" y="2021748"/>
            <a:ext cx="10566400" cy="1914988"/>
          </a:xfrm>
          <a:prstGeom prst="rect">
            <a:avLst/>
          </a:prstGeom>
        </p:spPr>
      </p:pic>
      <p:sp>
        <p:nvSpPr>
          <p:cNvPr id="5" name="Text 2"/>
          <p:cNvSpPr/>
          <p:nvPr/>
        </p:nvSpPr>
        <p:spPr>
          <a:xfrm>
            <a:off x="812800" y="4139936"/>
            <a:ext cx="10566400" cy="395552"/>
          </a:xfrm>
          <a:prstGeom prst="roundRect">
            <a:avLst>
              <a:gd name="adj" fmla="val 12843"/>
            </a:avLst>
          </a:prstGeom>
          <a:solidFill>
            <a:srgbClr val="EEF5F4"/>
          </a:solidFill>
          <a:ln/>
        </p:spPr>
        <p:txBody>
          <a:bodyPr wrap="square" lIns="137521" tIns="74021" rIns="0" bIns="48621" rtlCol="0" anchor="t">
            <a:normAutofit/>
          </a:bodyPr>
          <a:lstStyle/>
          <a:p>
            <a:pPr marL="0" indent="0" algn="l">
              <a:lnSpc>
                <a:spcPts val="1723"/>
              </a:lnSpc>
              <a:buNone/>
            </a:pPr>
            <a:r>
              <a:rPr lang="en-US" sz="1231" b="1" dirty="0">
                <a:solidFill>
                  <a:srgbClr val="264653"/>
                </a:solidFill>
                <a:latin typeface="Arial" pitchFamily="34" charset="0"/>
                <a:ea typeface="Arial" pitchFamily="34" charset="-122"/>
                <a:cs typeface="Arial" pitchFamily="34" charset="-120"/>
              </a:rPr>
              <a:t>LightGBM:</a:t>
            </a:r>
            <a:r>
              <a:rPr lang="en-US" sz="1231" dirty="0">
                <a:solidFill>
                  <a:srgbClr val="264653"/>
                </a:solidFill>
                <a:latin typeface="Arial" pitchFamily="34" charset="0"/>
                <a:ea typeface="Arial" pitchFamily="34" charset="-122"/>
                <a:cs typeface="Arial" pitchFamily="34" charset="-120"/>
              </a:rPr>
              <a:t> cientos de árboles de decisión pequeños; cada uno corrige los errores del anterior.</a:t>
            </a:r>
            <a:endParaRPr lang="en-US" sz="1231" dirty="0"/>
          </a:p>
        </p:txBody>
      </p:sp>
      <p:sp>
        <p:nvSpPr>
          <p:cNvPr id="6" name="Shape 3"/>
          <p:cNvSpPr/>
          <p:nvPr/>
        </p:nvSpPr>
        <p:spPr>
          <a:xfrm>
            <a:off x="812800" y="4738688"/>
            <a:ext cx="3403600" cy="1103313"/>
          </a:xfrm>
          <a:prstGeom prst="roundRect">
            <a:avLst>
              <a:gd name="adj" fmla="val 4604"/>
            </a:avLst>
          </a:prstGeom>
          <a:solidFill>
            <a:srgbClr val="FFFFFF"/>
          </a:solidFill>
          <a:ln/>
        </p:spPr>
        <p:txBody>
          <a:bodyPr/>
          <a:lstStyle/>
          <a:p>
            <a:endParaRPr lang="es-AR"/>
          </a:p>
        </p:txBody>
      </p:sp>
      <p:sp>
        <p:nvSpPr>
          <p:cNvPr id="7" name="Shape 4"/>
          <p:cNvSpPr/>
          <p:nvPr/>
        </p:nvSpPr>
        <p:spPr>
          <a:xfrm>
            <a:off x="812800" y="4738688"/>
            <a:ext cx="3403600" cy="1103313"/>
          </a:xfrm>
          <a:custGeom>
            <a:avLst/>
            <a:gdLst/>
            <a:ahLst/>
            <a:cxnLst/>
            <a:rect l="l" t="t" r="r" b="b"/>
            <a:pathLst>
              <a:path w="3403600" h="1103313">
                <a:moveTo>
                  <a:pt x="50800" y="1103313"/>
                </a:moveTo>
                <a:lnTo>
                  <a:pt x="50800" y="1103313"/>
                </a:lnTo>
                <a:arcTo wR="50800" hR="50800" stAng="5400000" swAng="5400000"/>
                <a:lnTo>
                  <a:pt x="0" y="50800"/>
                </a:lnTo>
                <a:arcTo wR="50800" hR="50800" stAng="10800000" swAng="5400000"/>
                <a:lnTo>
                  <a:pt x="50800" y="0"/>
                </a:lnTo>
                <a:lnTo>
                  <a:pt x="50800" y="1103313"/>
                </a:lnTo>
                <a:close/>
              </a:path>
            </a:pathLst>
          </a:custGeom>
          <a:solidFill>
            <a:srgbClr val="2A9D8F"/>
          </a:solidFill>
          <a:ln/>
        </p:spPr>
        <p:txBody>
          <a:bodyPr/>
          <a:lstStyle/>
          <a:p>
            <a:endParaRPr lang="es-AR"/>
          </a:p>
        </p:txBody>
      </p:sp>
      <p:sp>
        <p:nvSpPr>
          <p:cNvPr id="8" name="Text 5"/>
          <p:cNvSpPr/>
          <p:nvPr/>
        </p:nvSpPr>
        <p:spPr>
          <a:xfrm>
            <a:off x="1066800" y="4916488"/>
            <a:ext cx="3034792" cy="331060"/>
          </a:xfrm>
          <a:prstGeom prst="rect">
            <a:avLst/>
          </a:prstGeom>
          <a:noFill/>
          <a:ln/>
        </p:spPr>
        <p:txBody>
          <a:bodyPr wrap="square" lIns="0" tIns="0" rIns="0" bIns="0" rtlCol="0" anchor="t">
            <a:normAutofit/>
          </a:bodyPr>
          <a:lstStyle/>
          <a:p>
            <a:pPr marL="0" indent="0" algn="l">
              <a:lnSpc>
                <a:spcPts val="2417"/>
              </a:lnSpc>
              <a:buNone/>
            </a:pPr>
            <a:r>
              <a:rPr lang="en-US" sz="2198" b="1" dirty="0">
                <a:solidFill>
                  <a:srgbClr val="264653"/>
                </a:solidFill>
                <a:latin typeface="Arial" pitchFamily="34" charset="0"/>
                <a:ea typeface="Arial" pitchFamily="34" charset="-122"/>
                <a:cs typeface="Arial" pitchFamily="34" charset="-120"/>
              </a:rPr>
              <a:t>R² 0,44</a:t>
            </a:r>
            <a:endParaRPr lang="en-US" sz="2198" dirty="0"/>
          </a:p>
        </p:txBody>
      </p:sp>
      <p:sp>
        <p:nvSpPr>
          <p:cNvPr id="9" name="Text 6"/>
          <p:cNvSpPr/>
          <p:nvPr/>
        </p:nvSpPr>
        <p:spPr>
          <a:xfrm>
            <a:off x="1066800" y="5272948"/>
            <a:ext cx="3034792" cy="416653"/>
          </a:xfrm>
          <a:prstGeom prst="rect">
            <a:avLst/>
          </a:prstGeom>
          <a:noFill/>
          <a:ln/>
        </p:spPr>
        <p:txBody>
          <a:bodyPr wrap="square" lIns="0" tIns="0" rIns="0" bIns="0" rtlCol="0" anchor="t">
            <a:normAutofit/>
          </a:bodyPr>
          <a:lstStyle/>
          <a:p>
            <a:pPr marL="0" indent="0" algn="l">
              <a:lnSpc>
                <a:spcPts val="1558"/>
              </a:lnSpc>
              <a:buNone/>
            </a:pPr>
            <a:r>
              <a:rPr lang="en-US" sz="1198" dirty="0">
                <a:solidFill>
                  <a:srgbClr val="3D4A55"/>
                </a:solidFill>
                <a:latin typeface="Arial" pitchFamily="34" charset="0"/>
                <a:ea typeface="Arial" pitchFamily="34" charset="-122"/>
                <a:cs typeface="Arial" pitchFamily="34" charset="-120"/>
              </a:rPr>
              <a:t>LightGBM en el 1T2026, frente a 0,40 de la regresión lineal</a:t>
            </a:r>
            <a:endParaRPr lang="en-US" sz="1198" dirty="0"/>
          </a:p>
        </p:txBody>
      </p:sp>
      <p:sp>
        <p:nvSpPr>
          <p:cNvPr id="10" name="Shape 7"/>
          <p:cNvSpPr/>
          <p:nvPr/>
        </p:nvSpPr>
        <p:spPr>
          <a:xfrm>
            <a:off x="4394200" y="4738688"/>
            <a:ext cx="3403600" cy="1103313"/>
          </a:xfrm>
          <a:prstGeom prst="roundRect">
            <a:avLst>
              <a:gd name="adj" fmla="val 4604"/>
            </a:avLst>
          </a:prstGeom>
          <a:solidFill>
            <a:srgbClr val="FFFFFF"/>
          </a:solidFill>
          <a:ln/>
        </p:spPr>
        <p:txBody>
          <a:bodyPr/>
          <a:lstStyle/>
          <a:p>
            <a:endParaRPr lang="es-AR"/>
          </a:p>
        </p:txBody>
      </p:sp>
      <p:sp>
        <p:nvSpPr>
          <p:cNvPr id="11" name="Shape 8"/>
          <p:cNvSpPr/>
          <p:nvPr/>
        </p:nvSpPr>
        <p:spPr>
          <a:xfrm>
            <a:off x="4394200" y="4738688"/>
            <a:ext cx="3403600" cy="1103313"/>
          </a:xfrm>
          <a:custGeom>
            <a:avLst/>
            <a:gdLst/>
            <a:ahLst/>
            <a:cxnLst/>
            <a:rect l="l" t="t" r="r" b="b"/>
            <a:pathLst>
              <a:path w="3403600" h="1103313">
                <a:moveTo>
                  <a:pt x="50800" y="1103313"/>
                </a:moveTo>
                <a:lnTo>
                  <a:pt x="50800" y="1103313"/>
                </a:lnTo>
                <a:arcTo wR="50800" hR="50800" stAng="5400000" swAng="5400000"/>
                <a:lnTo>
                  <a:pt x="0" y="50800"/>
                </a:lnTo>
                <a:arcTo wR="50800" hR="50800" stAng="10800000" swAng="5400000"/>
                <a:lnTo>
                  <a:pt x="50800" y="0"/>
                </a:lnTo>
                <a:lnTo>
                  <a:pt x="50800" y="1103313"/>
                </a:lnTo>
                <a:close/>
              </a:path>
            </a:pathLst>
          </a:custGeom>
          <a:solidFill>
            <a:srgbClr val="E9C46A"/>
          </a:solidFill>
          <a:ln/>
        </p:spPr>
        <p:txBody>
          <a:bodyPr/>
          <a:lstStyle/>
          <a:p>
            <a:endParaRPr lang="es-AR"/>
          </a:p>
        </p:txBody>
      </p:sp>
      <p:sp>
        <p:nvSpPr>
          <p:cNvPr id="12" name="Text 9"/>
          <p:cNvSpPr/>
          <p:nvPr/>
        </p:nvSpPr>
        <p:spPr>
          <a:xfrm>
            <a:off x="4648200" y="4916488"/>
            <a:ext cx="3034792" cy="331060"/>
          </a:xfrm>
          <a:prstGeom prst="rect">
            <a:avLst/>
          </a:prstGeom>
          <a:noFill/>
          <a:ln/>
        </p:spPr>
        <p:txBody>
          <a:bodyPr wrap="square" lIns="0" tIns="0" rIns="0" bIns="0" rtlCol="0" anchor="t">
            <a:normAutofit/>
          </a:bodyPr>
          <a:lstStyle/>
          <a:p>
            <a:pPr marL="0" indent="0" algn="l">
              <a:lnSpc>
                <a:spcPts val="2417"/>
              </a:lnSpc>
              <a:buNone/>
            </a:pPr>
            <a:r>
              <a:rPr lang="en-US" sz="2198" b="1" dirty="0">
                <a:solidFill>
                  <a:srgbClr val="264653"/>
                </a:solidFill>
                <a:latin typeface="Arial" pitchFamily="34" charset="0"/>
                <a:ea typeface="Arial" pitchFamily="34" charset="-122"/>
                <a:cs typeface="Arial" pitchFamily="34" charset="-120"/>
              </a:rPr>
              <a:t>PSI 0,04</a:t>
            </a:r>
            <a:endParaRPr lang="en-US" sz="2198" dirty="0"/>
          </a:p>
        </p:txBody>
      </p:sp>
      <p:sp>
        <p:nvSpPr>
          <p:cNvPr id="13" name="Text 10"/>
          <p:cNvSpPr/>
          <p:nvPr/>
        </p:nvSpPr>
        <p:spPr>
          <a:xfrm>
            <a:off x="4648200" y="5272948"/>
            <a:ext cx="3034792" cy="416653"/>
          </a:xfrm>
          <a:prstGeom prst="rect">
            <a:avLst/>
          </a:prstGeom>
          <a:noFill/>
          <a:ln/>
        </p:spPr>
        <p:txBody>
          <a:bodyPr wrap="square" lIns="0" tIns="0" rIns="0" bIns="0" rtlCol="0" anchor="t">
            <a:normAutofit/>
          </a:bodyPr>
          <a:lstStyle/>
          <a:p>
            <a:pPr marL="0" indent="0" algn="l">
              <a:lnSpc>
                <a:spcPts val="1558"/>
              </a:lnSpc>
              <a:buNone/>
            </a:pPr>
            <a:r>
              <a:rPr lang="en-US" sz="1198" dirty="0">
                <a:solidFill>
                  <a:srgbClr val="3D4A55"/>
                </a:solidFill>
                <a:latin typeface="Arial" pitchFamily="34" charset="0"/>
                <a:ea typeface="Arial" pitchFamily="34" charset="-122"/>
                <a:cs typeface="Arial" pitchFamily="34" charset="-120"/>
              </a:rPr>
              <a:t>índice de estabilidad de la población: composición estable</a:t>
            </a:r>
            <a:endParaRPr lang="en-US" sz="1198" dirty="0"/>
          </a:p>
        </p:txBody>
      </p:sp>
      <p:sp>
        <p:nvSpPr>
          <p:cNvPr id="14" name="Shape 11"/>
          <p:cNvSpPr/>
          <p:nvPr/>
        </p:nvSpPr>
        <p:spPr>
          <a:xfrm>
            <a:off x="7975600" y="4738688"/>
            <a:ext cx="3403600" cy="1103313"/>
          </a:xfrm>
          <a:prstGeom prst="roundRect">
            <a:avLst>
              <a:gd name="adj" fmla="val 4604"/>
            </a:avLst>
          </a:prstGeom>
          <a:solidFill>
            <a:srgbClr val="FFFFFF"/>
          </a:solidFill>
          <a:ln/>
        </p:spPr>
        <p:txBody>
          <a:bodyPr/>
          <a:lstStyle/>
          <a:p>
            <a:endParaRPr lang="es-AR"/>
          </a:p>
        </p:txBody>
      </p:sp>
      <p:sp>
        <p:nvSpPr>
          <p:cNvPr id="15" name="Shape 12"/>
          <p:cNvSpPr/>
          <p:nvPr/>
        </p:nvSpPr>
        <p:spPr>
          <a:xfrm>
            <a:off x="7975600" y="4738688"/>
            <a:ext cx="3403600" cy="1103313"/>
          </a:xfrm>
          <a:custGeom>
            <a:avLst/>
            <a:gdLst/>
            <a:ahLst/>
            <a:cxnLst/>
            <a:rect l="l" t="t" r="r" b="b"/>
            <a:pathLst>
              <a:path w="3403600" h="1103313">
                <a:moveTo>
                  <a:pt x="50800" y="1103313"/>
                </a:moveTo>
                <a:lnTo>
                  <a:pt x="50800" y="1103313"/>
                </a:lnTo>
                <a:arcTo wR="50800" hR="50800" stAng="5400000" swAng="5400000"/>
                <a:lnTo>
                  <a:pt x="0" y="50800"/>
                </a:lnTo>
                <a:arcTo wR="50800" hR="50800" stAng="10800000" swAng="5400000"/>
                <a:lnTo>
                  <a:pt x="50800" y="0"/>
                </a:lnTo>
                <a:lnTo>
                  <a:pt x="50800" y="1103313"/>
                </a:lnTo>
                <a:close/>
              </a:path>
            </a:pathLst>
          </a:custGeom>
          <a:solidFill>
            <a:srgbClr val="E76F51"/>
          </a:solidFill>
          <a:ln/>
        </p:spPr>
        <p:txBody>
          <a:bodyPr/>
          <a:lstStyle/>
          <a:p>
            <a:endParaRPr lang="es-AR"/>
          </a:p>
        </p:txBody>
      </p:sp>
      <p:sp>
        <p:nvSpPr>
          <p:cNvPr id="16" name="Text 13"/>
          <p:cNvSpPr/>
          <p:nvPr/>
        </p:nvSpPr>
        <p:spPr>
          <a:xfrm>
            <a:off x="8229600" y="4916488"/>
            <a:ext cx="3034792" cy="331060"/>
          </a:xfrm>
          <a:prstGeom prst="rect">
            <a:avLst/>
          </a:prstGeom>
          <a:noFill/>
          <a:ln/>
        </p:spPr>
        <p:txBody>
          <a:bodyPr wrap="square" lIns="0" tIns="0" rIns="0" bIns="0" rtlCol="0" anchor="t">
            <a:normAutofit/>
          </a:bodyPr>
          <a:lstStyle/>
          <a:p>
            <a:pPr marL="0" indent="0" algn="l">
              <a:lnSpc>
                <a:spcPts val="2417"/>
              </a:lnSpc>
              <a:buNone/>
            </a:pPr>
            <a:r>
              <a:rPr lang="en-US" sz="2198" b="1" dirty="0">
                <a:solidFill>
                  <a:srgbClr val="264653"/>
                </a:solidFill>
                <a:latin typeface="Arial" pitchFamily="34" charset="0"/>
                <a:ea typeface="Arial" pitchFamily="34" charset="-122"/>
                <a:cs typeface="Arial" pitchFamily="34" charset="-120"/>
              </a:rPr>
              <a:t>34% → 19%</a:t>
            </a:r>
            <a:endParaRPr lang="en-US" sz="2198" dirty="0"/>
          </a:p>
        </p:txBody>
      </p:sp>
      <p:sp>
        <p:nvSpPr>
          <p:cNvPr id="17" name="Text 14"/>
          <p:cNvSpPr/>
          <p:nvPr/>
        </p:nvSpPr>
        <p:spPr>
          <a:xfrm>
            <a:off x="8229600" y="5272948"/>
            <a:ext cx="3034792" cy="416653"/>
          </a:xfrm>
          <a:prstGeom prst="rect">
            <a:avLst/>
          </a:prstGeom>
          <a:noFill/>
          <a:ln/>
        </p:spPr>
        <p:txBody>
          <a:bodyPr wrap="square" lIns="0" tIns="0" rIns="0" bIns="0" rtlCol="0" anchor="t">
            <a:normAutofit/>
          </a:bodyPr>
          <a:lstStyle/>
          <a:p>
            <a:pPr marL="0" indent="0" algn="l">
              <a:lnSpc>
                <a:spcPts val="1558"/>
              </a:lnSpc>
              <a:buNone/>
            </a:pPr>
            <a:r>
              <a:rPr lang="en-US" sz="1198" dirty="0">
                <a:solidFill>
                  <a:srgbClr val="3D4A55"/>
                </a:solidFill>
                <a:latin typeface="Arial" pitchFamily="34" charset="0"/>
                <a:ea typeface="Arial" pitchFamily="34" charset="-122"/>
                <a:cs typeface="Arial" pitchFamily="34" charset="-120"/>
              </a:rPr>
              <a:t>prima del empleo registrado en un año: hay que reentrenar cada trimestre</a:t>
            </a:r>
            <a:endParaRPr lang="en-US" sz="1198" dirty="0"/>
          </a:p>
        </p:txBody>
      </p:sp>
      <p:sp>
        <p:nvSpPr>
          <p:cNvPr id="18" name="Text 15"/>
          <p:cNvSpPr/>
          <p:nvPr/>
        </p:nvSpPr>
        <p:spPr>
          <a:xfrm>
            <a:off x="812800" y="62890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Arial" pitchFamily="34" charset="0"/>
                <a:ea typeface="Arial" pitchFamily="34" charset="-122"/>
                <a:cs typeface="Arial" pitchFamily="34" charset="-120"/>
              </a:rPr>
              <a:t>Determinantes y predicción del salario de las mujeres asalariadas en Argentina · TFM UCM</a:t>
            </a:r>
            <a:endParaRPr lang="en-US" sz="1200" dirty="0"/>
          </a:p>
        </p:txBody>
      </p:sp>
      <p:sp>
        <p:nvSpPr>
          <p:cNvPr id="19" name="Text 16"/>
          <p:cNvSpPr/>
          <p:nvPr/>
        </p:nvSpPr>
        <p:spPr>
          <a:xfrm>
            <a:off x="10058400" y="62890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64653"/>
                </a:solidFill>
                <a:latin typeface="Arial" pitchFamily="34" charset="0"/>
                <a:ea typeface="Arial" pitchFamily="34" charset="-122"/>
                <a:cs typeface="Arial" pitchFamily="34" charset="-120"/>
              </a:rPr>
              <a:t>4 / 12</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A9D8F"/>
                </a:solidFill>
                <a:latin typeface="Arial" pitchFamily="34" charset="0"/>
                <a:ea typeface="Arial" pitchFamily="34" charset="-122"/>
                <a:cs typeface="Arial" pitchFamily="34" charset="-120"/>
              </a:rPr>
              <a:t>RESULTADOS</a:t>
            </a:r>
            <a:endParaRPr lang="en-US" sz="1300" dirty="0"/>
          </a:p>
        </p:txBody>
      </p:sp>
      <p:sp>
        <p:nvSpPr>
          <p:cNvPr id="3" name="Text 1"/>
          <p:cNvSpPr>
            <a:spLocks noGrp="1"/>
          </p:cNvSpPr>
          <p:nvPr>
            <p:ph type="title"/>
          </p:nvPr>
        </p:nvSpPr>
        <p:spPr>
          <a:xfrm>
            <a:off x="812800" y="1094715"/>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264653"/>
                </a:solidFill>
                <a:latin typeface="Arial" pitchFamily="34" charset="0"/>
                <a:ea typeface="Arial" pitchFamily="34" charset="-122"/>
                <a:cs typeface="Arial" pitchFamily="34" charset="-120"/>
              </a:rPr>
              <a:t>El tipo de empleo pesa más que la formación</a:t>
            </a:r>
            <a:endParaRPr lang="en-US" sz="2800" dirty="0"/>
          </a:p>
        </p:txBody>
      </p:sp>
      <p:pic>
        <p:nvPicPr>
          <p:cNvPr id="4" name="Image 0" descr="Determinantes con más peso según SHAP y reparto entre factores accionables y estructurales"/>
          <p:cNvPicPr>
            <a:picLocks noChangeAspect="1"/>
          </p:cNvPicPr>
          <p:nvPr/>
        </p:nvPicPr>
        <p:blipFill>
          <a:blip r:embed="rId3"/>
          <a:srcRect l="-998" r="-998"/>
          <a:stretch/>
        </p:blipFill>
        <p:spPr>
          <a:xfrm>
            <a:off x="812800" y="2180565"/>
            <a:ext cx="7112000" cy="2667000"/>
          </a:xfrm>
          <a:prstGeom prst="rect">
            <a:avLst/>
          </a:prstGeom>
        </p:spPr>
      </p:pic>
      <p:sp>
        <p:nvSpPr>
          <p:cNvPr id="5" name="Text 2"/>
          <p:cNvSpPr/>
          <p:nvPr/>
        </p:nvSpPr>
        <p:spPr>
          <a:xfrm>
            <a:off x="812800" y="4923765"/>
            <a:ext cx="7325360"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A7179"/>
                </a:solidFill>
                <a:latin typeface="Arial" pitchFamily="34" charset="0"/>
                <a:ea typeface="Arial" pitchFamily="34" charset="-122"/>
                <a:cs typeface="Arial" pitchFamily="34" charset="-120"/>
              </a:rPr>
              <a:t>SHAP</a:t>
            </a:r>
            <a:r>
              <a:rPr lang="en-US" sz="1200" dirty="0">
                <a:solidFill>
                  <a:srgbClr val="6A7179"/>
                </a:solidFill>
                <a:latin typeface="Arial" pitchFamily="34" charset="0"/>
                <a:ea typeface="Arial" pitchFamily="34" charset="-122"/>
                <a:cs typeface="Arial" pitchFamily="34" charset="-120"/>
              </a:rPr>
              <a:t> (SHapley Additive exPlanations): reparte cada predicción entre las variables, con un método de la teoría de juegos.</a:t>
            </a:r>
            <a:endParaRPr lang="en-US" sz="1200" dirty="0"/>
          </a:p>
        </p:txBody>
      </p:sp>
      <p:sp>
        <p:nvSpPr>
          <p:cNvPr id="6" name="Shape 3"/>
          <p:cNvSpPr/>
          <p:nvPr/>
        </p:nvSpPr>
        <p:spPr>
          <a:xfrm>
            <a:off x="8178800" y="1882313"/>
            <a:ext cx="3200400" cy="1170781"/>
          </a:xfrm>
          <a:prstGeom prst="roundRect">
            <a:avLst>
              <a:gd name="adj" fmla="val 4339"/>
            </a:avLst>
          </a:prstGeom>
          <a:solidFill>
            <a:srgbClr val="FFFFFF"/>
          </a:solidFill>
          <a:ln/>
        </p:spPr>
        <p:txBody>
          <a:bodyPr/>
          <a:lstStyle/>
          <a:p>
            <a:endParaRPr lang="es-AR"/>
          </a:p>
        </p:txBody>
      </p:sp>
      <p:sp>
        <p:nvSpPr>
          <p:cNvPr id="7" name="Shape 4"/>
          <p:cNvSpPr/>
          <p:nvPr/>
        </p:nvSpPr>
        <p:spPr>
          <a:xfrm>
            <a:off x="8178800" y="1882313"/>
            <a:ext cx="3200400" cy="1170781"/>
          </a:xfrm>
          <a:custGeom>
            <a:avLst/>
            <a:gdLst/>
            <a:ahLst/>
            <a:cxnLst/>
            <a:rect l="l" t="t" r="r" b="b"/>
            <a:pathLst>
              <a:path w="3200400" h="1170781">
                <a:moveTo>
                  <a:pt x="50800" y="1170781"/>
                </a:moveTo>
                <a:lnTo>
                  <a:pt x="50800" y="1170781"/>
                </a:lnTo>
                <a:arcTo wR="50800" hR="50800" stAng="5400000" swAng="5400000"/>
                <a:lnTo>
                  <a:pt x="0" y="50800"/>
                </a:lnTo>
                <a:arcTo wR="50800" hR="50800" stAng="10800000" swAng="5400000"/>
                <a:lnTo>
                  <a:pt x="50800" y="0"/>
                </a:lnTo>
                <a:lnTo>
                  <a:pt x="50800" y="1170781"/>
                </a:lnTo>
                <a:close/>
              </a:path>
            </a:pathLst>
          </a:custGeom>
          <a:solidFill>
            <a:srgbClr val="2A9D8F"/>
          </a:solidFill>
          <a:ln/>
        </p:spPr>
        <p:txBody>
          <a:bodyPr/>
          <a:lstStyle/>
          <a:p>
            <a:endParaRPr lang="es-AR"/>
          </a:p>
        </p:txBody>
      </p:sp>
      <p:sp>
        <p:nvSpPr>
          <p:cNvPr id="8" name="Text 5"/>
          <p:cNvSpPr/>
          <p:nvPr/>
        </p:nvSpPr>
        <p:spPr>
          <a:xfrm>
            <a:off x="8432800" y="2060113"/>
            <a:ext cx="2825496" cy="360627"/>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264653"/>
                </a:solidFill>
                <a:latin typeface="Arial" pitchFamily="34" charset="0"/>
                <a:ea typeface="Arial" pitchFamily="34" charset="-122"/>
                <a:cs typeface="Arial" pitchFamily="34" charset="-120"/>
              </a:rPr>
              <a:t>63%</a:t>
            </a:r>
            <a:endParaRPr lang="en-US" sz="2400" dirty="0"/>
          </a:p>
        </p:txBody>
      </p:sp>
      <p:sp>
        <p:nvSpPr>
          <p:cNvPr id="9" name="Text 6"/>
          <p:cNvSpPr/>
          <p:nvPr/>
        </p:nvSpPr>
        <p:spPr>
          <a:xfrm>
            <a:off x="8432800" y="2446139"/>
            <a:ext cx="2825496" cy="454554"/>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D4A55"/>
                </a:solidFill>
                <a:latin typeface="Arial" pitchFamily="34" charset="0"/>
                <a:ea typeface="Arial" pitchFamily="34" charset="-122"/>
                <a:cs typeface="Arial" pitchFamily="34" charset="-120"/>
              </a:rPr>
              <a:t>de lo que explica el modelo: registro, jornada, ocupación y actividad</a:t>
            </a:r>
            <a:endParaRPr lang="en-US" sz="1300" dirty="0"/>
          </a:p>
        </p:txBody>
      </p:sp>
      <p:sp>
        <p:nvSpPr>
          <p:cNvPr id="10" name="Shape 7"/>
          <p:cNvSpPr/>
          <p:nvPr/>
        </p:nvSpPr>
        <p:spPr>
          <a:xfrm>
            <a:off x="8178800" y="3180094"/>
            <a:ext cx="3200400" cy="1170781"/>
          </a:xfrm>
          <a:prstGeom prst="roundRect">
            <a:avLst>
              <a:gd name="adj" fmla="val 4339"/>
            </a:avLst>
          </a:prstGeom>
          <a:solidFill>
            <a:srgbClr val="FFFFFF"/>
          </a:solidFill>
          <a:ln/>
        </p:spPr>
        <p:txBody>
          <a:bodyPr/>
          <a:lstStyle/>
          <a:p>
            <a:endParaRPr lang="es-AR"/>
          </a:p>
        </p:txBody>
      </p:sp>
      <p:sp>
        <p:nvSpPr>
          <p:cNvPr id="11" name="Shape 8"/>
          <p:cNvSpPr/>
          <p:nvPr/>
        </p:nvSpPr>
        <p:spPr>
          <a:xfrm>
            <a:off x="8178800" y="3180094"/>
            <a:ext cx="3200400" cy="1170781"/>
          </a:xfrm>
          <a:custGeom>
            <a:avLst/>
            <a:gdLst/>
            <a:ahLst/>
            <a:cxnLst/>
            <a:rect l="l" t="t" r="r" b="b"/>
            <a:pathLst>
              <a:path w="3200400" h="1170781">
                <a:moveTo>
                  <a:pt x="50800" y="1170781"/>
                </a:moveTo>
                <a:lnTo>
                  <a:pt x="50800" y="1170781"/>
                </a:lnTo>
                <a:arcTo wR="50800" hR="50800" stAng="5400000" swAng="5400000"/>
                <a:lnTo>
                  <a:pt x="0" y="50800"/>
                </a:lnTo>
                <a:arcTo wR="50800" hR="50800" stAng="10800000" swAng="5400000"/>
                <a:lnTo>
                  <a:pt x="50800" y="0"/>
                </a:lnTo>
                <a:lnTo>
                  <a:pt x="50800" y="1170781"/>
                </a:lnTo>
                <a:close/>
              </a:path>
            </a:pathLst>
          </a:custGeom>
          <a:solidFill>
            <a:srgbClr val="E9C46A"/>
          </a:solidFill>
          <a:ln/>
        </p:spPr>
        <p:txBody>
          <a:bodyPr/>
          <a:lstStyle/>
          <a:p>
            <a:endParaRPr lang="es-AR"/>
          </a:p>
        </p:txBody>
      </p:sp>
      <p:sp>
        <p:nvSpPr>
          <p:cNvPr id="12" name="Text 9"/>
          <p:cNvSpPr/>
          <p:nvPr/>
        </p:nvSpPr>
        <p:spPr>
          <a:xfrm>
            <a:off x="8432800" y="3357894"/>
            <a:ext cx="2825496" cy="360627"/>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264653"/>
                </a:solidFill>
                <a:latin typeface="Arial" pitchFamily="34" charset="0"/>
                <a:ea typeface="Arial" pitchFamily="34" charset="-122"/>
                <a:cs typeface="Arial" pitchFamily="34" charset="-120"/>
              </a:rPr>
              <a:t>14%</a:t>
            </a:r>
            <a:endParaRPr lang="en-US" sz="2400" dirty="0"/>
          </a:p>
        </p:txBody>
      </p:sp>
      <p:sp>
        <p:nvSpPr>
          <p:cNvPr id="13" name="Text 10"/>
          <p:cNvSpPr/>
          <p:nvPr/>
        </p:nvSpPr>
        <p:spPr>
          <a:xfrm>
            <a:off x="8432800" y="3743920"/>
            <a:ext cx="2825496" cy="454554"/>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D4A55"/>
                </a:solidFill>
                <a:latin typeface="Arial" pitchFamily="34" charset="0"/>
                <a:ea typeface="Arial" pitchFamily="34" charset="-122"/>
                <a:cs typeface="Arial" pitchFamily="34" charset="-120"/>
              </a:rPr>
              <a:t>educación y experiencia de la persona</a:t>
            </a:r>
            <a:endParaRPr lang="en-US" sz="1300" dirty="0"/>
          </a:p>
        </p:txBody>
      </p:sp>
      <p:sp>
        <p:nvSpPr>
          <p:cNvPr id="14" name="Shape 11"/>
          <p:cNvSpPr/>
          <p:nvPr/>
        </p:nvSpPr>
        <p:spPr>
          <a:xfrm>
            <a:off x="8178800" y="4477876"/>
            <a:ext cx="3200400" cy="1170781"/>
          </a:xfrm>
          <a:prstGeom prst="roundRect">
            <a:avLst>
              <a:gd name="adj" fmla="val 4339"/>
            </a:avLst>
          </a:prstGeom>
          <a:solidFill>
            <a:srgbClr val="FFFFFF"/>
          </a:solidFill>
          <a:ln/>
        </p:spPr>
        <p:txBody>
          <a:bodyPr/>
          <a:lstStyle/>
          <a:p>
            <a:endParaRPr lang="es-AR"/>
          </a:p>
        </p:txBody>
      </p:sp>
      <p:sp>
        <p:nvSpPr>
          <p:cNvPr id="15" name="Shape 12"/>
          <p:cNvSpPr/>
          <p:nvPr/>
        </p:nvSpPr>
        <p:spPr>
          <a:xfrm>
            <a:off x="8178800" y="4477876"/>
            <a:ext cx="3200400" cy="1170781"/>
          </a:xfrm>
          <a:custGeom>
            <a:avLst/>
            <a:gdLst/>
            <a:ahLst/>
            <a:cxnLst/>
            <a:rect l="l" t="t" r="r" b="b"/>
            <a:pathLst>
              <a:path w="3200400" h="1170781">
                <a:moveTo>
                  <a:pt x="50800" y="1170781"/>
                </a:moveTo>
                <a:lnTo>
                  <a:pt x="50800" y="1170781"/>
                </a:lnTo>
                <a:arcTo wR="50800" hR="50800" stAng="5400000" swAng="5400000"/>
                <a:lnTo>
                  <a:pt x="0" y="50800"/>
                </a:lnTo>
                <a:arcTo wR="50800" hR="50800" stAng="10800000" swAng="5400000"/>
                <a:lnTo>
                  <a:pt x="50800" y="0"/>
                </a:lnTo>
                <a:lnTo>
                  <a:pt x="50800" y="1170781"/>
                </a:lnTo>
                <a:close/>
              </a:path>
            </a:pathLst>
          </a:custGeom>
          <a:solidFill>
            <a:srgbClr val="E76F51"/>
          </a:solidFill>
          <a:ln/>
        </p:spPr>
        <p:txBody>
          <a:bodyPr/>
          <a:lstStyle/>
          <a:p>
            <a:endParaRPr lang="es-AR"/>
          </a:p>
        </p:txBody>
      </p:sp>
      <p:sp>
        <p:nvSpPr>
          <p:cNvPr id="16" name="Text 13"/>
          <p:cNvSpPr/>
          <p:nvPr/>
        </p:nvSpPr>
        <p:spPr>
          <a:xfrm>
            <a:off x="8432800" y="4655676"/>
            <a:ext cx="2825496" cy="360627"/>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264653"/>
                </a:solidFill>
                <a:latin typeface="Arial" pitchFamily="34" charset="0"/>
                <a:ea typeface="Arial" pitchFamily="34" charset="-122"/>
                <a:cs typeface="Arial" pitchFamily="34" charset="-120"/>
              </a:rPr>
              <a:t>−6</a:t>
            </a:r>
            <a:endParaRPr lang="en-US" sz="2400" dirty="0"/>
          </a:p>
        </p:txBody>
      </p:sp>
      <p:sp>
        <p:nvSpPr>
          <p:cNvPr id="17" name="Text 14"/>
          <p:cNvSpPr/>
          <p:nvPr/>
        </p:nvSpPr>
        <p:spPr>
          <a:xfrm>
            <a:off x="8432800" y="5041702"/>
            <a:ext cx="2825496" cy="454554"/>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D4A55"/>
                </a:solidFill>
                <a:latin typeface="Arial" pitchFamily="34" charset="0"/>
                <a:ea typeface="Arial" pitchFamily="34" charset="-122"/>
                <a:cs typeface="Arial" pitchFamily="34" charset="-120"/>
              </a:rPr>
              <a:t>puntos de empleo por cada hijo menor de 6 años</a:t>
            </a:r>
            <a:endParaRPr lang="en-US" sz="1300" dirty="0"/>
          </a:p>
        </p:txBody>
      </p:sp>
      <p:sp>
        <p:nvSpPr>
          <p:cNvPr id="18" name="Text 15"/>
          <p:cNvSpPr/>
          <p:nvPr/>
        </p:nvSpPr>
        <p:spPr>
          <a:xfrm>
            <a:off x="812800" y="62890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Arial" pitchFamily="34" charset="0"/>
                <a:ea typeface="Arial" pitchFamily="34" charset="-122"/>
                <a:cs typeface="Arial" pitchFamily="34" charset="-120"/>
              </a:rPr>
              <a:t>Determinantes y predicción del salario de las mujeres asalariadas en Argentina · TFM UCM</a:t>
            </a:r>
            <a:endParaRPr lang="en-US" sz="1200" dirty="0"/>
          </a:p>
        </p:txBody>
      </p:sp>
      <p:sp>
        <p:nvSpPr>
          <p:cNvPr id="19" name="Text 16"/>
          <p:cNvSpPr/>
          <p:nvPr/>
        </p:nvSpPr>
        <p:spPr>
          <a:xfrm>
            <a:off x="10058400" y="62890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64653"/>
                </a:solidFill>
                <a:latin typeface="Arial" pitchFamily="34" charset="0"/>
                <a:ea typeface="Arial" pitchFamily="34" charset="-122"/>
                <a:cs typeface="Arial" pitchFamily="34" charset="-120"/>
              </a:rPr>
              <a:t>5 / 12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A9D8F"/>
                </a:solidFill>
                <a:latin typeface="Arial" pitchFamily="34" charset="0"/>
                <a:ea typeface="Arial" pitchFamily="34" charset="-122"/>
                <a:cs typeface="Arial" pitchFamily="34" charset="-120"/>
              </a:rPr>
              <a:t>TERRITORIO Y RECURSOS NATURALES</a:t>
            </a:r>
            <a:endParaRPr lang="en-US" sz="1300" dirty="0"/>
          </a:p>
        </p:txBody>
      </p:sp>
      <p:sp>
        <p:nvSpPr>
          <p:cNvPr id="3" name="Text 1"/>
          <p:cNvSpPr>
            <a:spLocks noGrp="1"/>
          </p:cNvSpPr>
          <p:nvPr>
            <p:ph type="title"/>
          </p:nvPr>
        </p:nvSpPr>
        <p:spPr>
          <a:xfrm>
            <a:off x="812800" y="1094715"/>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264653"/>
                </a:solidFill>
                <a:latin typeface="Arial" pitchFamily="34" charset="0"/>
                <a:ea typeface="Arial" pitchFamily="34" charset="-122"/>
                <a:cs typeface="Arial" pitchFamily="34" charset="-120"/>
              </a:rPr>
              <a:t>La diferencia entre regiones es sobre todo costo de vida</a:t>
            </a:r>
            <a:endParaRPr lang="en-US" sz="2800" dirty="0"/>
          </a:p>
        </p:txBody>
      </p:sp>
      <p:sp>
        <p:nvSpPr>
          <p:cNvPr id="4" name="Shape 2"/>
          <p:cNvSpPr/>
          <p:nvPr/>
        </p:nvSpPr>
        <p:spPr>
          <a:xfrm>
            <a:off x="812800" y="1689035"/>
            <a:ext cx="3302000" cy="2012950"/>
          </a:xfrm>
          <a:prstGeom prst="roundRect">
            <a:avLst>
              <a:gd name="adj" fmla="val 2524"/>
            </a:avLst>
          </a:prstGeom>
          <a:solidFill>
            <a:srgbClr val="FFFFFF"/>
          </a:solidFill>
          <a:ln/>
        </p:spPr>
        <p:txBody>
          <a:bodyPr/>
          <a:lstStyle/>
          <a:p>
            <a:endParaRPr lang="es-AR"/>
          </a:p>
        </p:txBody>
      </p:sp>
      <p:sp>
        <p:nvSpPr>
          <p:cNvPr id="5" name="Shape 3"/>
          <p:cNvSpPr/>
          <p:nvPr/>
        </p:nvSpPr>
        <p:spPr>
          <a:xfrm>
            <a:off x="812800" y="1689035"/>
            <a:ext cx="3302000" cy="2012950"/>
          </a:xfrm>
          <a:custGeom>
            <a:avLst/>
            <a:gdLst/>
            <a:ahLst/>
            <a:cxnLst/>
            <a:rect l="l" t="t" r="r" b="b"/>
            <a:pathLst>
              <a:path w="3302000" h="2012950">
                <a:moveTo>
                  <a:pt x="50800" y="2012950"/>
                </a:moveTo>
                <a:lnTo>
                  <a:pt x="50800" y="2012950"/>
                </a:lnTo>
                <a:arcTo wR="50800" hR="50800" stAng="5400000" swAng="5400000"/>
                <a:lnTo>
                  <a:pt x="0" y="50800"/>
                </a:lnTo>
                <a:arcTo wR="50800" hR="50800" stAng="10800000" swAng="5400000"/>
                <a:lnTo>
                  <a:pt x="50800" y="0"/>
                </a:lnTo>
                <a:lnTo>
                  <a:pt x="50800" y="2012950"/>
                </a:lnTo>
                <a:close/>
              </a:path>
            </a:pathLst>
          </a:custGeom>
          <a:solidFill>
            <a:srgbClr val="2A9D8F"/>
          </a:solidFill>
          <a:ln/>
        </p:spPr>
        <p:txBody>
          <a:bodyPr/>
          <a:lstStyle/>
          <a:p>
            <a:endParaRPr lang="es-AR"/>
          </a:p>
        </p:txBody>
      </p:sp>
      <p:sp>
        <p:nvSpPr>
          <p:cNvPr id="6" name="Text 4"/>
          <p:cNvSpPr/>
          <p:nvPr/>
        </p:nvSpPr>
        <p:spPr>
          <a:xfrm>
            <a:off x="1066800" y="1866835"/>
            <a:ext cx="2930144" cy="360627"/>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264653"/>
                </a:solidFill>
                <a:latin typeface="Arial" pitchFamily="34" charset="0"/>
                <a:ea typeface="Arial" pitchFamily="34" charset="-122"/>
                <a:cs typeface="Arial" pitchFamily="34" charset="-120"/>
              </a:rPr>
              <a:t>39 → 9</a:t>
            </a:r>
            <a:endParaRPr lang="en-US" sz="2400" dirty="0"/>
          </a:p>
        </p:txBody>
      </p:sp>
      <p:sp>
        <p:nvSpPr>
          <p:cNvPr id="7" name="Text 5"/>
          <p:cNvSpPr/>
          <p:nvPr/>
        </p:nvSpPr>
        <p:spPr>
          <a:xfrm>
            <a:off x="1066800" y="2252861"/>
            <a:ext cx="2930144" cy="669131"/>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D4A55"/>
                </a:solidFill>
                <a:latin typeface="Arial" pitchFamily="34" charset="0"/>
                <a:ea typeface="Arial" pitchFamily="34" charset="-122"/>
                <a:cs typeface="Arial" pitchFamily="34" charset="-120"/>
              </a:rPr>
              <a:t>puntos de diferencia entre regiones en pesos; 9 al descontar la canasta regional</a:t>
            </a:r>
            <a:endParaRPr lang="en-US" sz="1300" dirty="0"/>
          </a:p>
        </p:txBody>
      </p:sp>
      <p:sp>
        <p:nvSpPr>
          <p:cNvPr id="8" name="Shape 6"/>
          <p:cNvSpPr/>
          <p:nvPr/>
        </p:nvSpPr>
        <p:spPr>
          <a:xfrm>
            <a:off x="812800" y="3828985"/>
            <a:ext cx="3302000" cy="2013016"/>
          </a:xfrm>
          <a:prstGeom prst="roundRect">
            <a:avLst>
              <a:gd name="adj" fmla="val 2524"/>
            </a:avLst>
          </a:prstGeom>
          <a:solidFill>
            <a:srgbClr val="FFFFFF"/>
          </a:solidFill>
          <a:ln/>
        </p:spPr>
        <p:txBody>
          <a:bodyPr/>
          <a:lstStyle/>
          <a:p>
            <a:endParaRPr lang="es-AR"/>
          </a:p>
        </p:txBody>
      </p:sp>
      <p:sp>
        <p:nvSpPr>
          <p:cNvPr id="9" name="Shape 7"/>
          <p:cNvSpPr/>
          <p:nvPr/>
        </p:nvSpPr>
        <p:spPr>
          <a:xfrm>
            <a:off x="812800" y="3828985"/>
            <a:ext cx="3302000" cy="2013016"/>
          </a:xfrm>
          <a:custGeom>
            <a:avLst/>
            <a:gdLst/>
            <a:ahLst/>
            <a:cxnLst/>
            <a:rect l="l" t="t" r="r" b="b"/>
            <a:pathLst>
              <a:path w="3302000" h="2013016">
                <a:moveTo>
                  <a:pt x="50800" y="2013016"/>
                </a:moveTo>
                <a:lnTo>
                  <a:pt x="50800" y="2013016"/>
                </a:lnTo>
                <a:arcTo wR="50800" hR="50800" stAng="5400000" swAng="5400000"/>
                <a:lnTo>
                  <a:pt x="0" y="50800"/>
                </a:lnTo>
                <a:arcTo wR="50800" hR="50800" stAng="10800000" swAng="5400000"/>
                <a:lnTo>
                  <a:pt x="50800" y="0"/>
                </a:lnTo>
                <a:lnTo>
                  <a:pt x="50800" y="2013016"/>
                </a:lnTo>
                <a:close/>
              </a:path>
            </a:pathLst>
          </a:custGeom>
          <a:solidFill>
            <a:srgbClr val="E9C46A"/>
          </a:solidFill>
          <a:ln/>
        </p:spPr>
        <p:txBody>
          <a:bodyPr/>
          <a:lstStyle/>
          <a:p>
            <a:endParaRPr lang="es-AR"/>
          </a:p>
        </p:txBody>
      </p:sp>
      <p:sp>
        <p:nvSpPr>
          <p:cNvPr id="10" name="Text 8"/>
          <p:cNvSpPr/>
          <p:nvPr/>
        </p:nvSpPr>
        <p:spPr>
          <a:xfrm>
            <a:off x="1066800" y="4006785"/>
            <a:ext cx="2930144" cy="360627"/>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264653"/>
                </a:solidFill>
                <a:latin typeface="Arial" pitchFamily="34" charset="0"/>
                <a:ea typeface="Arial" pitchFamily="34" charset="-122"/>
                <a:cs typeface="Arial" pitchFamily="34" charset="-120"/>
              </a:rPr>
              <a:t>+5%</a:t>
            </a:r>
            <a:endParaRPr lang="en-US" sz="2400" dirty="0"/>
          </a:p>
        </p:txBody>
      </p:sp>
      <p:sp>
        <p:nvSpPr>
          <p:cNvPr id="11" name="Text 9"/>
          <p:cNvSpPr/>
          <p:nvPr/>
        </p:nvSpPr>
        <p:spPr>
          <a:xfrm>
            <a:off x="1066800" y="4392811"/>
            <a:ext cx="2930144" cy="669131"/>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D4A55"/>
                </a:solidFill>
                <a:latin typeface="Arial" pitchFamily="34" charset="0"/>
                <a:ea typeface="Arial" pitchFamily="34" charset="-122"/>
                <a:cs typeface="Arial" pitchFamily="34" charset="-120"/>
              </a:rPr>
              <a:t>escenario, no pronóstico: si las ciudades mineras alcanzaran la prima petrolera (≈ $43.000 por mes)</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381500" y="1701735"/>
          <a:ext cx="6997700" cy="2041658"/>
        </p:xfrm>
        <a:graphic>
          <a:graphicData uri="http://schemas.openxmlformats.org/drawingml/2006/table">
            <a:tbl>
              <a:tblPr/>
              <a:tblGrid>
                <a:gridCol w="2379218">
                  <a:extLst>
                    <a:ext uri="{9D8B030D-6E8A-4147-A177-3AD203B41FA5}">
                      <a16:colId xmlns:a16="http://schemas.microsoft.com/office/drawing/2014/main" val="20000"/>
                    </a:ext>
                  </a:extLst>
                </a:gridCol>
                <a:gridCol w="1539494">
                  <a:extLst>
                    <a:ext uri="{9D8B030D-6E8A-4147-A177-3AD203B41FA5}">
                      <a16:colId xmlns:a16="http://schemas.microsoft.com/office/drawing/2014/main" val="20001"/>
                    </a:ext>
                  </a:extLst>
                </a:gridCol>
                <a:gridCol w="1539494">
                  <a:extLst>
                    <a:ext uri="{9D8B030D-6E8A-4147-A177-3AD203B41FA5}">
                      <a16:colId xmlns:a16="http://schemas.microsoft.com/office/drawing/2014/main" val="20002"/>
                    </a:ext>
                  </a:extLst>
                </a:gridCol>
                <a:gridCol w="1539494">
                  <a:extLst>
                    <a:ext uri="{9D8B030D-6E8A-4147-A177-3AD203B41FA5}">
                      <a16:colId xmlns:a16="http://schemas.microsoft.com/office/drawing/2014/main" val="20003"/>
                    </a:ext>
                  </a:extLst>
                </a:gridCol>
              </a:tblGrid>
              <a:tr h="634868">
                <a:tc>
                  <a:txBody>
                    <a:bodyPr/>
                    <a:lstStyle/>
                    <a:p>
                      <a:pPr marL="0" indent="0">
                        <a:lnSpc>
                          <a:spcPts val="1960"/>
                        </a:lnSpc>
                        <a:buNone/>
                      </a:pPr>
                      <a:r>
                        <a:rPr lang="en-US" sz="1400" b="1" dirty="0">
                          <a:solidFill>
                            <a:srgbClr val="FBFAF6"/>
                          </a:solidFill>
                          <a:latin typeface="Arial" pitchFamily="34" charset="0"/>
                          <a:ea typeface="Arial" pitchFamily="34" charset="-122"/>
                          <a:cs typeface="Arial" pitchFamily="34" charset="-120"/>
                        </a:rPr>
                        <a:t>Polo</a:t>
                      </a:r>
                      <a:endParaRPr lang="en-US" sz="1400" dirty="0">
                        <a:latin typeface="Arial" charset="0"/>
                        <a:ea typeface="Arial" charset="0"/>
                        <a:cs typeface="Arial"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223B45"/>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223B45"/>
                      </a:solidFill>
                      <a:prstDash val="solid"/>
                      <a:round/>
                      <a:headEnd type="none" w="med" len="med"/>
                      <a:tailEnd type="none" w="med" len="med"/>
                    </a:lnB>
                    <a:solidFill>
                      <a:srgbClr val="264653"/>
                    </a:solidFill>
                  </a:tcPr>
                </a:tc>
                <a:tc>
                  <a:txBody>
                    <a:bodyPr/>
                    <a:lstStyle/>
                    <a:p>
                      <a:pPr marL="0" indent="0">
                        <a:lnSpc>
                          <a:spcPts val="1960"/>
                        </a:lnSpc>
                        <a:buNone/>
                      </a:pPr>
                      <a:r>
                        <a:rPr lang="en-US" sz="1400" b="1" dirty="0">
                          <a:solidFill>
                            <a:srgbClr val="FBFAF6"/>
                          </a:solidFill>
                          <a:latin typeface="Arial" pitchFamily="34" charset="0"/>
                          <a:ea typeface="Arial" pitchFamily="34" charset="-122"/>
                          <a:cs typeface="Arial" pitchFamily="34" charset="-120"/>
                        </a:rPr>
                        <a:t>Asalariadas en el sector</a:t>
                      </a:r>
                      <a:endParaRPr lang="en-US" sz="1400" dirty="0">
                        <a:latin typeface="Arial" charset="0"/>
                        <a:ea typeface="Arial" charset="0"/>
                        <a:cs typeface="Arial" charset="0"/>
                      </a:endParaRPr>
                    </a:p>
                  </a:txBody>
                  <a:tcPr marL="62230" marR="62230" marT="62230" marB="62230">
                    <a:lnL w="12700" cap="flat" cmpd="sng" algn="ctr">
                      <a:solidFill>
                        <a:srgbClr val="223B45"/>
                      </a:solidFill>
                      <a:prstDash val="solid"/>
                      <a:round/>
                      <a:headEnd type="none" w="med" len="med"/>
                      <a:tailEnd type="none" w="med" len="med"/>
                    </a:lnL>
                    <a:lnR w="12700" cap="flat" cmpd="sng" algn="ctr">
                      <a:solidFill>
                        <a:srgbClr val="223B45"/>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223B45"/>
                      </a:solidFill>
                      <a:prstDash val="solid"/>
                      <a:round/>
                      <a:headEnd type="none" w="med" len="med"/>
                      <a:tailEnd type="none" w="med" len="med"/>
                    </a:lnB>
                    <a:solidFill>
                      <a:srgbClr val="264653"/>
                    </a:solidFill>
                  </a:tcPr>
                </a:tc>
                <a:tc>
                  <a:txBody>
                    <a:bodyPr/>
                    <a:lstStyle/>
                    <a:p>
                      <a:pPr marL="0" indent="0">
                        <a:lnSpc>
                          <a:spcPts val="1960"/>
                        </a:lnSpc>
                        <a:buNone/>
                      </a:pPr>
                      <a:r>
                        <a:rPr lang="en-US" sz="1400" b="1" dirty="0">
                          <a:solidFill>
                            <a:srgbClr val="FBFAF6"/>
                          </a:solidFill>
                          <a:latin typeface="Arial" pitchFamily="34" charset="0"/>
                          <a:ea typeface="Arial" pitchFamily="34" charset="-122"/>
                          <a:cs typeface="Arial" pitchFamily="34" charset="-120"/>
                        </a:rPr>
                        <a:t>Prima a igual perfil</a:t>
                      </a:r>
                      <a:endParaRPr lang="en-US" sz="1400" dirty="0">
                        <a:latin typeface="Arial" charset="0"/>
                        <a:ea typeface="Arial" charset="0"/>
                        <a:cs typeface="Arial" charset="0"/>
                      </a:endParaRPr>
                    </a:p>
                  </a:txBody>
                  <a:tcPr marL="62230" marR="62230" marT="62230" marB="62230">
                    <a:lnL w="12700" cap="flat" cmpd="sng" algn="ctr">
                      <a:solidFill>
                        <a:srgbClr val="223B45"/>
                      </a:solidFill>
                      <a:prstDash val="solid"/>
                      <a:round/>
                      <a:headEnd type="none" w="med" len="med"/>
                      <a:tailEnd type="none" w="med" len="med"/>
                    </a:lnL>
                    <a:lnR w="12700" cap="flat" cmpd="sng" algn="ctr">
                      <a:solidFill>
                        <a:srgbClr val="223B45"/>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223B45"/>
                      </a:solidFill>
                      <a:prstDash val="solid"/>
                      <a:round/>
                      <a:headEnd type="none" w="med" len="med"/>
                      <a:tailEnd type="none" w="med" len="med"/>
                    </a:lnB>
                    <a:solidFill>
                      <a:srgbClr val="264653"/>
                    </a:solidFill>
                  </a:tcPr>
                </a:tc>
                <a:tc>
                  <a:txBody>
                    <a:bodyPr/>
                    <a:lstStyle/>
                    <a:p>
                      <a:pPr marL="0" indent="0">
                        <a:lnSpc>
                          <a:spcPts val="1960"/>
                        </a:lnSpc>
                        <a:buNone/>
                      </a:pPr>
                      <a:r>
                        <a:rPr lang="en-US" sz="1400" b="1" dirty="0">
                          <a:solidFill>
                            <a:srgbClr val="FBFAF6"/>
                          </a:solidFill>
                          <a:latin typeface="Arial" pitchFamily="34" charset="0"/>
                          <a:ea typeface="Arial" pitchFamily="34" charset="-122"/>
                          <a:cs typeface="Arial" pitchFamily="34" charset="-120"/>
                        </a:rPr>
                        <a:t>Prima real</a:t>
                      </a:r>
                      <a:endParaRPr lang="en-US" sz="1400" dirty="0">
                        <a:latin typeface="Arial" charset="0"/>
                        <a:ea typeface="Arial" charset="0"/>
                        <a:cs typeface="Arial" charset="0"/>
                      </a:endParaRPr>
                    </a:p>
                  </a:txBody>
                  <a:tcPr marL="62230" marR="62230" marT="62230" marB="62230">
                    <a:lnL w="12700" cap="flat" cmpd="sng" algn="ctr">
                      <a:solidFill>
                        <a:srgbClr val="223B45"/>
                      </a:solidFill>
                      <a:prstDash val="solid"/>
                      <a:round/>
                      <a:headEnd type="none" w="med" len="med"/>
                      <a:tailEnd type="none" w="med" len="med"/>
                    </a:lnL>
                    <a:lnR w="12700" cap="flat" cmpd="sng" algn="ctr">
                      <a:solidFill>
                        <a:srgbClr val="223B45"/>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223B45"/>
                      </a:solidFill>
                      <a:prstDash val="solid"/>
                      <a:round/>
                      <a:headEnd type="none" w="med" len="med"/>
                      <a:tailEnd type="none" w="med" len="med"/>
                    </a:lnB>
                    <a:solidFill>
                      <a:srgbClr val="264653"/>
                    </a:solidFill>
                  </a:tcPr>
                </a:tc>
                <a:extLst>
                  <a:ext uri="{0D108BD9-81ED-4DB2-BD59-A6C34878D82A}">
                    <a16:rowId xmlns:a16="http://schemas.microsoft.com/office/drawing/2014/main" val="10000"/>
                  </a:ext>
                </a:extLst>
              </a:tr>
              <a:tr h="634868">
                <a:tc>
                  <a:txBody>
                    <a:bodyPr/>
                    <a:lstStyle/>
                    <a:p>
                      <a:pPr marL="0" indent="0">
                        <a:lnSpc>
                          <a:spcPts val="1960"/>
                        </a:lnSpc>
                        <a:buNone/>
                      </a:pPr>
                      <a:r>
                        <a:rPr lang="en-US" sz="1400" dirty="0">
                          <a:solidFill>
                            <a:srgbClr val="3D4A55"/>
                          </a:solidFill>
                          <a:latin typeface="Arial" pitchFamily="34" charset="0"/>
                          <a:ea typeface="Arial" pitchFamily="34" charset="-122"/>
                          <a:cs typeface="Arial" pitchFamily="34" charset="-120"/>
                        </a:rPr>
                        <a:t>Hidrocarburos (Vaca Muerta, Comodoro)</a:t>
                      </a:r>
                      <a:endParaRPr lang="en-US" sz="1400" dirty="0">
                        <a:latin typeface="Arial" charset="0"/>
                        <a:ea typeface="Arial" charset="0"/>
                        <a:cs typeface="Arial"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223B45"/>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marL="0" indent="0">
                        <a:lnSpc>
                          <a:spcPts val="1960"/>
                        </a:lnSpc>
                        <a:buNone/>
                      </a:pPr>
                      <a:r>
                        <a:rPr lang="en-US" sz="1400" dirty="0">
                          <a:solidFill>
                            <a:srgbClr val="3D4A55"/>
                          </a:solidFill>
                          <a:latin typeface="Arial" pitchFamily="34" charset="0"/>
                          <a:ea typeface="Arial" pitchFamily="34" charset="-122"/>
                          <a:cs typeface="Arial" pitchFamily="34" charset="-120"/>
                        </a:rPr>
                        <a:t>4,5%</a:t>
                      </a:r>
                      <a:endParaRPr lang="en-US" sz="1400" dirty="0">
                        <a:latin typeface="Arial" charset="0"/>
                        <a:ea typeface="Arial" charset="0"/>
                        <a:cs typeface="Arial"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223B45"/>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marL="0" indent="0">
                        <a:lnSpc>
                          <a:spcPts val="1960"/>
                        </a:lnSpc>
                        <a:buNone/>
                      </a:pPr>
                      <a:r>
                        <a:rPr lang="en-US" sz="1400" dirty="0">
                          <a:solidFill>
                            <a:srgbClr val="3D4A55"/>
                          </a:solidFill>
                          <a:latin typeface="Arial" pitchFamily="34" charset="0"/>
                          <a:ea typeface="Arial" pitchFamily="34" charset="-122"/>
                          <a:cs typeface="Arial" pitchFamily="34" charset="-120"/>
                        </a:rPr>
                        <a:t>+26%</a:t>
                      </a:r>
                      <a:endParaRPr lang="en-US" sz="1400" dirty="0">
                        <a:latin typeface="Arial" charset="0"/>
                        <a:ea typeface="Arial" charset="0"/>
                        <a:cs typeface="Arial"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223B45"/>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marL="0" indent="0">
                        <a:lnSpc>
                          <a:spcPts val="1960"/>
                        </a:lnSpc>
                        <a:buNone/>
                      </a:pPr>
                      <a:r>
                        <a:rPr lang="en-US" sz="1400" dirty="0">
                          <a:solidFill>
                            <a:srgbClr val="3D4A55"/>
                          </a:solidFill>
                          <a:latin typeface="Arial" pitchFamily="34" charset="0"/>
                          <a:ea typeface="Arial" pitchFamily="34" charset="-122"/>
                          <a:cs typeface="Arial" pitchFamily="34" charset="-120"/>
                        </a:rPr>
                        <a:t>+5,5%</a:t>
                      </a:r>
                      <a:endParaRPr lang="en-US" sz="1400" dirty="0">
                        <a:latin typeface="Arial" charset="0"/>
                        <a:ea typeface="Arial" charset="0"/>
                        <a:cs typeface="Arial"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223B45"/>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3D4A55"/>
                          </a:solidFill>
                          <a:latin typeface="Arial" pitchFamily="34" charset="0"/>
                          <a:ea typeface="Arial" pitchFamily="34" charset="-122"/>
                          <a:cs typeface="Arial" pitchFamily="34" charset="-120"/>
                        </a:rPr>
                        <a:t>Minería (litio, cobre, oro)</a:t>
                      </a:r>
                      <a:endParaRPr lang="en-US" sz="1400" dirty="0">
                        <a:latin typeface="Arial" charset="0"/>
                        <a:ea typeface="Arial" charset="0"/>
                        <a:cs typeface="Arial"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BEC4C3"/>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EC4C3"/>
                      </a:solidFill>
                      <a:prstDash val="solid"/>
                      <a:round/>
                      <a:headEnd type="none" w="med" len="med"/>
                      <a:tailEnd type="none" w="med" len="med"/>
                    </a:lnB>
                    <a:solidFill>
                      <a:srgbClr val="EEF5F4"/>
                    </a:solidFill>
                  </a:tcPr>
                </a:tc>
                <a:tc>
                  <a:txBody>
                    <a:bodyPr/>
                    <a:lstStyle/>
                    <a:p>
                      <a:pPr marL="0" indent="0">
                        <a:lnSpc>
                          <a:spcPts val="1960"/>
                        </a:lnSpc>
                        <a:buNone/>
                      </a:pPr>
                      <a:r>
                        <a:rPr lang="en-US" sz="1400" dirty="0">
                          <a:solidFill>
                            <a:srgbClr val="3D4A55"/>
                          </a:solidFill>
                          <a:latin typeface="Arial" pitchFamily="34" charset="0"/>
                          <a:ea typeface="Arial" pitchFamily="34" charset="-122"/>
                          <a:cs typeface="Arial" pitchFamily="34" charset="-120"/>
                        </a:rPr>
                        <a:t>0,6%</a:t>
                      </a:r>
                      <a:endParaRPr lang="en-US" sz="1400" dirty="0">
                        <a:latin typeface="Arial" charset="0"/>
                        <a:ea typeface="Arial" charset="0"/>
                        <a:cs typeface="Arial" charset="0"/>
                      </a:endParaRPr>
                    </a:p>
                  </a:txBody>
                  <a:tcPr marL="62230" marR="62230" marT="62230" marB="62230">
                    <a:lnL w="12700" cap="flat" cmpd="sng" algn="ctr">
                      <a:solidFill>
                        <a:srgbClr val="BEC4C3"/>
                      </a:solidFill>
                      <a:prstDash val="solid"/>
                      <a:round/>
                      <a:headEnd type="none" w="med" len="med"/>
                      <a:tailEnd type="none" w="med" len="med"/>
                    </a:lnL>
                    <a:lnR w="12700" cap="flat" cmpd="sng" algn="ctr">
                      <a:solidFill>
                        <a:srgbClr val="BEC4C3"/>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EC4C3"/>
                      </a:solidFill>
                      <a:prstDash val="solid"/>
                      <a:round/>
                      <a:headEnd type="none" w="med" len="med"/>
                      <a:tailEnd type="none" w="med" len="med"/>
                    </a:lnB>
                    <a:solidFill>
                      <a:srgbClr val="EEF5F4"/>
                    </a:solidFill>
                  </a:tcPr>
                </a:tc>
                <a:tc>
                  <a:txBody>
                    <a:bodyPr/>
                    <a:lstStyle/>
                    <a:p>
                      <a:pPr marL="0" indent="0">
                        <a:lnSpc>
                          <a:spcPts val="1960"/>
                        </a:lnSpc>
                        <a:buNone/>
                      </a:pPr>
                      <a:r>
                        <a:rPr lang="en-US" sz="1400" dirty="0">
                          <a:solidFill>
                            <a:srgbClr val="3D4A55"/>
                          </a:solidFill>
                          <a:latin typeface="Arial" pitchFamily="34" charset="0"/>
                          <a:ea typeface="Arial" pitchFamily="34" charset="-122"/>
                          <a:cs typeface="Arial" pitchFamily="34" charset="-120"/>
                        </a:rPr>
                        <a:t>−12%</a:t>
                      </a:r>
                      <a:endParaRPr lang="en-US" sz="1400" dirty="0">
                        <a:latin typeface="Arial" charset="0"/>
                        <a:ea typeface="Arial" charset="0"/>
                        <a:cs typeface="Arial" charset="0"/>
                      </a:endParaRPr>
                    </a:p>
                  </a:txBody>
                  <a:tcPr marL="62230" marR="62230" marT="62230" marB="62230">
                    <a:lnL w="12700" cap="flat" cmpd="sng" algn="ctr">
                      <a:solidFill>
                        <a:srgbClr val="BEC4C3"/>
                      </a:solidFill>
                      <a:prstDash val="solid"/>
                      <a:round/>
                      <a:headEnd type="none" w="med" len="med"/>
                      <a:tailEnd type="none" w="med" len="med"/>
                    </a:lnL>
                    <a:lnR w="12700" cap="flat" cmpd="sng" algn="ctr">
                      <a:solidFill>
                        <a:srgbClr val="BEC4C3"/>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EC4C3"/>
                      </a:solidFill>
                      <a:prstDash val="solid"/>
                      <a:round/>
                      <a:headEnd type="none" w="med" len="med"/>
                      <a:tailEnd type="none" w="med" len="med"/>
                    </a:lnB>
                    <a:solidFill>
                      <a:srgbClr val="EEF5F4"/>
                    </a:solidFill>
                  </a:tcPr>
                </a:tc>
                <a:tc>
                  <a:txBody>
                    <a:bodyPr/>
                    <a:lstStyle/>
                    <a:p>
                      <a:pPr marL="0" indent="0">
                        <a:lnSpc>
                          <a:spcPts val="1960"/>
                        </a:lnSpc>
                        <a:buNone/>
                      </a:pPr>
                      <a:r>
                        <a:rPr lang="en-US" sz="1400" dirty="0">
                          <a:solidFill>
                            <a:srgbClr val="3D4A55"/>
                          </a:solidFill>
                          <a:latin typeface="Arial" pitchFamily="34" charset="0"/>
                          <a:ea typeface="Arial" pitchFamily="34" charset="-122"/>
                          <a:cs typeface="Arial" pitchFamily="34" charset="-120"/>
                        </a:rPr>
                        <a:t>0%</a:t>
                      </a:r>
                      <a:endParaRPr lang="en-US" sz="1400" dirty="0">
                        <a:latin typeface="Arial" charset="0"/>
                        <a:ea typeface="Arial" charset="0"/>
                        <a:cs typeface="Arial" charset="0"/>
                      </a:endParaRPr>
                    </a:p>
                  </a:txBody>
                  <a:tcPr marL="62230" marR="62230" marT="62230" marB="62230">
                    <a:lnL w="12700" cap="flat" cmpd="sng" algn="ctr">
                      <a:solidFill>
                        <a:srgbClr val="BEC4C3"/>
                      </a:solidFill>
                      <a:prstDash val="solid"/>
                      <a:round/>
                      <a:headEnd type="none" w="med" len="med"/>
                      <a:tailEnd type="none" w="med" len="med"/>
                    </a:lnL>
                    <a:lnR w="12700" cap="flat" cmpd="sng" algn="ctr">
                      <a:solidFill>
                        <a:srgbClr val="BEC4C3"/>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EC4C3"/>
                      </a:solidFill>
                      <a:prstDash val="solid"/>
                      <a:round/>
                      <a:headEnd type="none" w="med" len="med"/>
                      <a:tailEnd type="none" w="med" len="med"/>
                    </a:lnB>
                    <a:solidFill>
                      <a:srgbClr val="EEF5F4"/>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3D4A55"/>
                          </a:solidFill>
                          <a:latin typeface="Arial" pitchFamily="34" charset="0"/>
                          <a:ea typeface="Arial" pitchFamily="34" charset="-122"/>
                          <a:cs typeface="Arial" pitchFamily="34" charset="-120"/>
                        </a:rPr>
                        <a:t>Resto del país</a:t>
                      </a:r>
                      <a:endParaRPr lang="en-US" sz="1400" dirty="0">
                        <a:latin typeface="Arial" charset="0"/>
                        <a:ea typeface="Arial" charset="0"/>
                        <a:cs typeface="Arial"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EC4C3"/>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marL="0" indent="0">
                        <a:lnSpc>
                          <a:spcPts val="1960"/>
                        </a:lnSpc>
                        <a:buNone/>
                      </a:pPr>
                      <a:r>
                        <a:rPr lang="en-US" sz="1400" dirty="0">
                          <a:solidFill>
                            <a:srgbClr val="3D4A55"/>
                          </a:solidFill>
                          <a:latin typeface="Arial" pitchFamily="34" charset="0"/>
                          <a:ea typeface="Arial" pitchFamily="34" charset="-122"/>
                          <a:cs typeface="Arial" pitchFamily="34" charset="-120"/>
                        </a:rPr>
                        <a:t>0,1%</a:t>
                      </a:r>
                      <a:endParaRPr lang="en-US" sz="1400" dirty="0">
                        <a:latin typeface="Arial" charset="0"/>
                        <a:ea typeface="Arial" charset="0"/>
                        <a:cs typeface="Arial"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EC4C3"/>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marL="0" indent="0">
                        <a:lnSpc>
                          <a:spcPts val="1960"/>
                        </a:lnSpc>
                        <a:buNone/>
                      </a:pPr>
                      <a:r>
                        <a:rPr lang="en-US" sz="1400" dirty="0">
                          <a:solidFill>
                            <a:srgbClr val="3D4A55"/>
                          </a:solidFill>
                          <a:latin typeface="Arial" pitchFamily="34" charset="0"/>
                          <a:ea typeface="Arial" pitchFamily="34" charset="-122"/>
                          <a:cs typeface="Arial" pitchFamily="34" charset="-120"/>
                        </a:rPr>
                        <a:t>−2%</a:t>
                      </a:r>
                      <a:endParaRPr lang="en-US" sz="1400" dirty="0">
                        <a:latin typeface="Arial" charset="0"/>
                        <a:ea typeface="Arial" charset="0"/>
                        <a:cs typeface="Arial"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EC4C3"/>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marL="0" indent="0">
                        <a:lnSpc>
                          <a:spcPts val="1960"/>
                        </a:lnSpc>
                        <a:buNone/>
                      </a:pPr>
                      <a:r>
                        <a:rPr lang="en-US" sz="1400" dirty="0">
                          <a:solidFill>
                            <a:srgbClr val="3D4A55"/>
                          </a:solidFill>
                          <a:latin typeface="Arial" pitchFamily="34" charset="0"/>
                          <a:ea typeface="Arial" pitchFamily="34" charset="-122"/>
                          <a:cs typeface="Arial" pitchFamily="34" charset="-120"/>
                        </a:rPr>
                        <a:t>−0,5%</a:t>
                      </a:r>
                      <a:endParaRPr lang="en-US" sz="1400" dirty="0">
                        <a:latin typeface="Arial" charset="0"/>
                        <a:ea typeface="Arial" charset="0"/>
                        <a:cs typeface="Arial" charset="0"/>
                      </a:endParaRPr>
                    </a:p>
                  </a:txBody>
                  <a:tcPr marL="62230" marR="62230" marT="62230" marB="62230">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EC4C3"/>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3" name="Text 10"/>
          <p:cNvSpPr/>
          <p:nvPr/>
        </p:nvSpPr>
        <p:spPr>
          <a:xfrm>
            <a:off x="4368800" y="3844993"/>
            <a:ext cx="7220712"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D4A55"/>
                </a:solidFill>
                <a:latin typeface="Arial" pitchFamily="34" charset="0"/>
                <a:ea typeface="Arial" pitchFamily="34" charset="-122"/>
                <a:cs typeface="Arial" pitchFamily="34" charset="-120"/>
              </a:rPr>
              <a:t>No hay datos para pronosticar el efecto de los proyectos: sí para </a:t>
            </a:r>
            <a:r>
              <a:rPr lang="en-US" sz="1300" b="1" dirty="0">
                <a:solidFill>
                  <a:srgbClr val="3D4A55"/>
                </a:solidFill>
                <a:latin typeface="Arial" pitchFamily="34" charset="0"/>
                <a:ea typeface="Arial" pitchFamily="34" charset="-122"/>
                <a:cs typeface="Arial" pitchFamily="34" charset="-120"/>
              </a:rPr>
              <a:t>medir lo </a:t>
            </a:r>
            <a:r>
              <a:rPr lang="en-US" sz="1300" b="1" dirty="0" err="1">
                <a:solidFill>
                  <a:srgbClr val="3D4A55"/>
                </a:solidFill>
                <a:latin typeface="Arial" pitchFamily="34" charset="0"/>
                <a:ea typeface="Arial" pitchFamily="34" charset="-122"/>
                <a:cs typeface="Arial" pitchFamily="34" charset="-120"/>
              </a:rPr>
              <a:t>que</a:t>
            </a:r>
            <a:r>
              <a:rPr lang="en-US" sz="1300" b="1" dirty="0">
                <a:solidFill>
                  <a:srgbClr val="3D4A55"/>
                </a:solidFill>
                <a:latin typeface="Arial" pitchFamily="34" charset="0"/>
                <a:ea typeface="Arial" pitchFamily="34" charset="-122"/>
                <a:cs typeface="Arial" pitchFamily="34" charset="-120"/>
              </a:rPr>
              <a:t> </a:t>
            </a:r>
            <a:r>
              <a:rPr lang="en-US" sz="1300" b="1" dirty="0" err="1">
                <a:solidFill>
                  <a:srgbClr val="3D4A55"/>
                </a:solidFill>
                <a:latin typeface="Arial" pitchFamily="34" charset="0"/>
                <a:ea typeface="Arial" pitchFamily="34" charset="-122"/>
                <a:cs typeface="Arial" pitchFamily="34" charset="-120"/>
              </a:rPr>
              <a:t>ocurre</a:t>
            </a:r>
            <a:r>
              <a:rPr lang="en-US" sz="1300" dirty="0">
                <a:solidFill>
                  <a:srgbClr val="3D4A55"/>
                </a:solidFill>
                <a:latin typeface="Arial" pitchFamily="34" charset="0"/>
                <a:ea typeface="Arial" pitchFamily="34" charset="-122"/>
                <a:cs typeface="Arial" pitchFamily="34" charset="-120"/>
              </a:rPr>
              <a:t> y seguirlo cada trimestre.</a:t>
            </a:r>
            <a:endParaRPr lang="en-US" sz="1300" dirty="0"/>
          </a:p>
        </p:txBody>
      </p:sp>
      <p:sp>
        <p:nvSpPr>
          <p:cNvPr id="14" name="Text 11"/>
          <p:cNvSpPr/>
          <p:nvPr/>
        </p:nvSpPr>
        <p:spPr>
          <a:xfrm>
            <a:off x="812800" y="62890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Arial" pitchFamily="34" charset="0"/>
                <a:ea typeface="Arial" pitchFamily="34" charset="-122"/>
                <a:cs typeface="Arial" pitchFamily="34" charset="-120"/>
              </a:rPr>
              <a:t>Determinantes y predicción del salario de las mujeres asalariadas en Argentina · TFM UCM</a:t>
            </a:r>
            <a:endParaRPr lang="en-US" sz="1200" dirty="0"/>
          </a:p>
        </p:txBody>
      </p:sp>
      <p:sp>
        <p:nvSpPr>
          <p:cNvPr id="15" name="Text 12"/>
          <p:cNvSpPr/>
          <p:nvPr/>
        </p:nvSpPr>
        <p:spPr>
          <a:xfrm>
            <a:off x="10058400" y="62890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64653"/>
                </a:solidFill>
                <a:latin typeface="Arial" pitchFamily="34" charset="0"/>
                <a:ea typeface="Arial" pitchFamily="34" charset="-122"/>
                <a:cs typeface="Arial" pitchFamily="34" charset="-120"/>
              </a:rPr>
              <a:t>6 / 12</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46526"/>
          </a:xfrm>
          <a:prstGeom prst="rect">
            <a:avLst/>
          </a:prstGeom>
          <a:noFill/>
          <a:ln/>
        </p:spPr>
        <p:txBody>
          <a:bodyPr wrap="square" lIns="0" tIns="0" rIns="0" bIns="0" rtlCol="0" anchor="t">
            <a:normAutofit/>
          </a:bodyPr>
          <a:lstStyle/>
          <a:p>
            <a:pPr marL="0" indent="0" algn="l">
              <a:lnSpc>
                <a:spcPts val="1774"/>
              </a:lnSpc>
              <a:buNone/>
            </a:pPr>
            <a:r>
              <a:rPr lang="en-US" sz="1268" b="1" kern="0" spc="100" dirty="0">
                <a:solidFill>
                  <a:srgbClr val="2A9D8F"/>
                </a:solidFill>
                <a:latin typeface="Arial" pitchFamily="34" charset="0"/>
                <a:ea typeface="Arial" pitchFamily="34" charset="-122"/>
                <a:cs typeface="Arial" pitchFamily="34" charset="-120"/>
              </a:rPr>
              <a:t>PODER DE COMPRA</a:t>
            </a:r>
            <a:endParaRPr lang="en-US" sz="1268" dirty="0"/>
          </a:p>
        </p:txBody>
      </p:sp>
      <p:sp>
        <p:nvSpPr>
          <p:cNvPr id="3" name="Text 1"/>
          <p:cNvSpPr>
            <a:spLocks noGrp="1"/>
          </p:cNvSpPr>
          <p:nvPr>
            <p:ph type="title"/>
          </p:nvPr>
        </p:nvSpPr>
        <p:spPr>
          <a:xfrm>
            <a:off x="812800" y="1084728"/>
            <a:ext cx="10883392" cy="399653"/>
          </a:xfrm>
          <a:prstGeom prst="rect">
            <a:avLst/>
          </a:prstGeom>
          <a:noFill/>
          <a:ln/>
        </p:spPr>
        <p:txBody>
          <a:bodyPr wrap="square" lIns="0" tIns="0" rIns="0" bIns="0" rtlCol="0" anchor="t">
            <a:normAutofit/>
          </a:bodyPr>
          <a:lstStyle/>
          <a:p>
            <a:pPr marL="0" indent="0" algn="l">
              <a:lnSpc>
                <a:spcPts val="2974"/>
              </a:lnSpc>
              <a:buNone/>
            </a:pPr>
            <a:r>
              <a:rPr lang="en-US" sz="2704" b="1" i="0" dirty="0">
                <a:solidFill>
                  <a:srgbClr val="264653"/>
                </a:solidFill>
                <a:latin typeface="Arial" pitchFamily="34" charset="0"/>
                <a:ea typeface="Arial" pitchFamily="34" charset="-122"/>
                <a:cs typeface="Arial" pitchFamily="34" charset="-120"/>
              </a:rPr>
              <a:t>¿Alcanza el salario? El welfare ratio de Robert Allen</a:t>
            </a:r>
            <a:endParaRPr lang="en-US" sz="2704" dirty="0"/>
          </a:p>
        </p:txBody>
      </p:sp>
      <p:sp>
        <p:nvSpPr>
          <p:cNvPr id="4" name="Text 2"/>
          <p:cNvSpPr/>
          <p:nvPr/>
        </p:nvSpPr>
        <p:spPr>
          <a:xfrm>
            <a:off x="812800" y="1845007"/>
            <a:ext cx="7645400" cy="960041"/>
          </a:xfrm>
          <a:prstGeom prst="roundRect">
            <a:avLst>
              <a:gd name="adj" fmla="val 5291"/>
            </a:avLst>
          </a:prstGeom>
          <a:solidFill>
            <a:srgbClr val="EEF5F4"/>
          </a:solidFill>
          <a:ln/>
        </p:spPr>
        <p:txBody>
          <a:bodyPr wrap="square" lIns="105898" tIns="162921" rIns="105898" bIns="137521" rtlCol="0" anchor="t">
            <a:normAutofit/>
          </a:bodyPr>
          <a:lstStyle/>
          <a:p>
            <a:pPr marL="0" indent="0" algn="ctr">
              <a:lnSpc>
                <a:spcPts val="2380"/>
              </a:lnSpc>
              <a:buNone/>
            </a:pPr>
            <a:r>
              <a:rPr lang="en-US" sz="1700" b="1" dirty="0">
                <a:solidFill>
                  <a:srgbClr val="264653"/>
                </a:solidFill>
                <a:latin typeface="Arial" pitchFamily="34" charset="0"/>
                <a:ea typeface="Arial" pitchFamily="34" charset="-122"/>
                <a:cs typeface="Arial" pitchFamily="34" charset="-120"/>
              </a:rPr>
              <a:t>welfare ratio = salario horario × 172 horas / (Canasta Básica Total regional × 3,09 adultos equivalentes)</a:t>
            </a:r>
            <a:endParaRPr lang="en-US" sz="1700" dirty="0"/>
          </a:p>
        </p:txBody>
      </p:sp>
      <p:sp>
        <p:nvSpPr>
          <p:cNvPr id="5" name="Shape 3"/>
          <p:cNvSpPr/>
          <p:nvPr/>
        </p:nvSpPr>
        <p:spPr>
          <a:xfrm>
            <a:off x="8712200" y="1632415"/>
            <a:ext cx="2667000" cy="1385358"/>
          </a:xfrm>
          <a:prstGeom prst="roundRect">
            <a:avLst>
              <a:gd name="adj" fmla="val 3667"/>
            </a:avLst>
          </a:prstGeom>
          <a:solidFill>
            <a:srgbClr val="FFFFFF"/>
          </a:solidFill>
          <a:ln/>
        </p:spPr>
        <p:txBody>
          <a:bodyPr/>
          <a:lstStyle/>
          <a:p>
            <a:endParaRPr lang="es-AR"/>
          </a:p>
        </p:txBody>
      </p:sp>
      <p:sp>
        <p:nvSpPr>
          <p:cNvPr id="6" name="Shape 4"/>
          <p:cNvSpPr/>
          <p:nvPr/>
        </p:nvSpPr>
        <p:spPr>
          <a:xfrm>
            <a:off x="8712200" y="1632415"/>
            <a:ext cx="2667000" cy="1385358"/>
          </a:xfrm>
          <a:custGeom>
            <a:avLst/>
            <a:gdLst/>
            <a:ahLst/>
            <a:cxnLst/>
            <a:rect l="l" t="t" r="r" b="b"/>
            <a:pathLst>
              <a:path w="2667000" h="1385358">
                <a:moveTo>
                  <a:pt x="50800" y="1385358"/>
                </a:moveTo>
                <a:lnTo>
                  <a:pt x="50800" y="1385358"/>
                </a:lnTo>
                <a:arcTo wR="50800" hR="50800" stAng="5400000" swAng="5400000"/>
                <a:lnTo>
                  <a:pt x="0" y="50800"/>
                </a:lnTo>
                <a:arcTo wR="50800" hR="50800" stAng="10800000" swAng="5400000"/>
                <a:lnTo>
                  <a:pt x="50800" y="0"/>
                </a:lnTo>
                <a:lnTo>
                  <a:pt x="50800" y="1385358"/>
                </a:lnTo>
                <a:close/>
              </a:path>
            </a:pathLst>
          </a:custGeom>
          <a:solidFill>
            <a:srgbClr val="E76F51"/>
          </a:solidFill>
          <a:ln/>
        </p:spPr>
        <p:txBody>
          <a:bodyPr/>
          <a:lstStyle/>
          <a:p>
            <a:endParaRPr lang="es-AR"/>
          </a:p>
        </p:txBody>
      </p:sp>
      <p:sp>
        <p:nvSpPr>
          <p:cNvPr id="7" name="Text 5"/>
          <p:cNvSpPr/>
          <p:nvPr/>
        </p:nvSpPr>
        <p:spPr>
          <a:xfrm>
            <a:off x="8966200" y="1810215"/>
            <a:ext cx="2276094" cy="360627"/>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264653"/>
                </a:solidFill>
                <a:latin typeface="Arial" pitchFamily="34" charset="0"/>
                <a:ea typeface="Arial" pitchFamily="34" charset="-122"/>
                <a:cs typeface="Arial" pitchFamily="34" charset="-120"/>
              </a:rPr>
              <a:t>0,75</a:t>
            </a:r>
            <a:endParaRPr lang="en-US" sz="2400" dirty="0"/>
          </a:p>
        </p:txBody>
      </p:sp>
      <p:sp>
        <p:nvSpPr>
          <p:cNvPr id="8" name="Text 6"/>
          <p:cNvSpPr/>
          <p:nvPr/>
        </p:nvSpPr>
        <p:spPr>
          <a:xfrm>
            <a:off x="8966200" y="2196241"/>
            <a:ext cx="2276094" cy="669131"/>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D4A55"/>
                </a:solidFill>
                <a:latin typeface="Arial" pitchFamily="34" charset="0"/>
                <a:ea typeface="Arial" pitchFamily="34" charset="-122"/>
                <a:cs typeface="Arial" pitchFamily="34" charset="-120"/>
              </a:rPr>
              <a:t>canastas de una familia tipo que cubre el salario mediano (1T2026)</a:t>
            </a:r>
            <a:endParaRPr lang="en-US" sz="1300" dirty="0"/>
          </a:p>
        </p:txBody>
      </p:sp>
      <p:pic>
        <p:nvPicPr>
          <p:cNvPr id="9" name="Image 0" descr="Welfare ratio por trimestre y según nivel educativo"/>
          <p:cNvPicPr>
            <a:picLocks noChangeAspect="1"/>
          </p:cNvPicPr>
          <p:nvPr/>
        </p:nvPicPr>
        <p:blipFill>
          <a:blip r:embed="rId3"/>
          <a:srcRect l="-37819" r="-37819"/>
          <a:stretch/>
        </p:blipFill>
        <p:spPr>
          <a:xfrm>
            <a:off x="812800" y="3191142"/>
            <a:ext cx="10566400" cy="2005343"/>
          </a:xfrm>
          <a:prstGeom prst="rect">
            <a:avLst/>
          </a:prstGeom>
        </p:spPr>
      </p:pic>
      <p:sp>
        <p:nvSpPr>
          <p:cNvPr id="10" name="Text 7"/>
          <p:cNvSpPr/>
          <p:nvPr/>
        </p:nvSpPr>
        <p:spPr>
          <a:xfrm>
            <a:off x="812800" y="5399683"/>
            <a:ext cx="10883392" cy="467717"/>
          </a:xfrm>
          <a:prstGeom prst="rect">
            <a:avLst/>
          </a:prstGeom>
          <a:noFill/>
          <a:ln/>
        </p:spPr>
        <p:txBody>
          <a:bodyPr wrap="square" lIns="0" tIns="0" rIns="0" bIns="0" rtlCol="0" anchor="t">
            <a:normAutofit/>
          </a:bodyPr>
          <a:lstStyle/>
          <a:p>
            <a:pPr marL="0" indent="0" algn="l">
              <a:lnSpc>
                <a:spcPts val="1757"/>
              </a:lnSpc>
              <a:buNone/>
            </a:pPr>
            <a:r>
              <a:rPr lang="en-US" sz="1255" dirty="0">
                <a:solidFill>
                  <a:srgbClr val="6A7179"/>
                </a:solidFill>
                <a:latin typeface="Arial" pitchFamily="34" charset="0"/>
                <a:ea typeface="Arial" pitchFamily="34" charset="-122"/>
                <a:cs typeface="Arial" pitchFamily="34" charset="-120"/>
              </a:rPr>
              <a:t>Canasta oficial del INDEC por región y mes; la PPA se usa solo para comparar países. Método aplicado por la autora a Mendoza desde 1890 (Olguín y Bragoni, 2020, 2023 y 2025).</a:t>
            </a:r>
            <a:endParaRPr lang="en-US" sz="1255" dirty="0"/>
          </a:p>
        </p:txBody>
      </p:sp>
      <p:sp>
        <p:nvSpPr>
          <p:cNvPr id="11" name="Text 8"/>
          <p:cNvSpPr/>
          <p:nvPr/>
        </p:nvSpPr>
        <p:spPr>
          <a:xfrm>
            <a:off x="812800" y="62890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Arial" pitchFamily="34" charset="0"/>
                <a:ea typeface="Arial" pitchFamily="34" charset="-122"/>
                <a:cs typeface="Arial" pitchFamily="34" charset="-120"/>
              </a:rPr>
              <a:t>Determinantes y predicción del salario de las mujeres asalariadas en Argentina · TFM UCM</a:t>
            </a:r>
            <a:endParaRPr lang="en-US" sz="1200" dirty="0"/>
          </a:p>
        </p:txBody>
      </p:sp>
      <p:sp>
        <p:nvSpPr>
          <p:cNvPr id="12" name="Text 9"/>
          <p:cNvSpPr/>
          <p:nvPr/>
        </p:nvSpPr>
        <p:spPr>
          <a:xfrm>
            <a:off x="10058400" y="62890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64653"/>
                </a:solidFill>
                <a:latin typeface="Arial" pitchFamily="34" charset="0"/>
                <a:ea typeface="Arial" pitchFamily="34" charset="-122"/>
                <a:cs typeface="Arial" pitchFamily="34" charset="-120"/>
              </a:rPr>
              <a:t>7 / 12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A9D8F"/>
                </a:solidFill>
                <a:latin typeface="Arial" pitchFamily="34" charset="0"/>
                <a:ea typeface="Arial" pitchFamily="34" charset="-122"/>
                <a:cs typeface="Arial" pitchFamily="34" charset="-120"/>
              </a:rPr>
              <a:t>BRECHA DE GÉNERO</a:t>
            </a:r>
            <a:endParaRPr lang="en-US" sz="1300" dirty="0"/>
          </a:p>
        </p:txBody>
      </p:sp>
      <p:sp>
        <p:nvSpPr>
          <p:cNvPr id="3" name="Text 1"/>
          <p:cNvSpPr>
            <a:spLocks noGrp="1"/>
          </p:cNvSpPr>
          <p:nvPr>
            <p:ph type="title"/>
          </p:nvPr>
        </p:nvSpPr>
        <p:spPr>
          <a:xfrm>
            <a:off x="812800" y="1094715"/>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264653"/>
                </a:solidFill>
                <a:latin typeface="Arial" pitchFamily="34" charset="0"/>
                <a:ea typeface="Arial" pitchFamily="34" charset="-122"/>
                <a:cs typeface="Arial" pitchFamily="34" charset="-120"/>
              </a:rPr>
              <a:t>La brecha a igual perfil supera el 5% en el sector privado</a:t>
            </a:r>
            <a:endParaRPr lang="en-US" sz="2800" dirty="0"/>
          </a:p>
        </p:txBody>
      </p:sp>
      <p:sp>
        <p:nvSpPr>
          <p:cNvPr id="4" name="Shape 2"/>
          <p:cNvSpPr/>
          <p:nvPr/>
        </p:nvSpPr>
        <p:spPr>
          <a:xfrm>
            <a:off x="812800" y="1882313"/>
            <a:ext cx="3048000" cy="956204"/>
          </a:xfrm>
          <a:prstGeom prst="roundRect">
            <a:avLst>
              <a:gd name="adj" fmla="val 5313"/>
            </a:avLst>
          </a:prstGeom>
          <a:solidFill>
            <a:srgbClr val="FFFFFF"/>
          </a:solidFill>
          <a:ln/>
        </p:spPr>
        <p:txBody>
          <a:bodyPr/>
          <a:lstStyle/>
          <a:p>
            <a:endParaRPr lang="es-AR"/>
          </a:p>
        </p:txBody>
      </p:sp>
      <p:sp>
        <p:nvSpPr>
          <p:cNvPr id="5" name="Shape 3"/>
          <p:cNvSpPr/>
          <p:nvPr/>
        </p:nvSpPr>
        <p:spPr>
          <a:xfrm>
            <a:off x="812800" y="1882313"/>
            <a:ext cx="3048000" cy="956204"/>
          </a:xfrm>
          <a:custGeom>
            <a:avLst/>
            <a:gdLst/>
            <a:ahLst/>
            <a:cxnLst/>
            <a:rect l="l" t="t" r="r" b="b"/>
            <a:pathLst>
              <a:path w="3048000" h="956204">
                <a:moveTo>
                  <a:pt x="50800" y="956204"/>
                </a:moveTo>
                <a:lnTo>
                  <a:pt x="50800" y="956204"/>
                </a:lnTo>
                <a:arcTo wR="50800" hR="50800" stAng="5400000" swAng="5400000"/>
                <a:lnTo>
                  <a:pt x="0" y="50800"/>
                </a:lnTo>
                <a:arcTo wR="50800" hR="50800" stAng="10800000" swAng="5400000"/>
                <a:lnTo>
                  <a:pt x="50800" y="0"/>
                </a:lnTo>
                <a:lnTo>
                  <a:pt x="50800" y="956204"/>
                </a:lnTo>
                <a:close/>
              </a:path>
            </a:pathLst>
          </a:custGeom>
          <a:solidFill>
            <a:srgbClr val="E9C46A"/>
          </a:solidFill>
          <a:ln/>
        </p:spPr>
        <p:txBody>
          <a:bodyPr/>
          <a:lstStyle/>
          <a:p>
            <a:endParaRPr lang="es-AR"/>
          </a:p>
        </p:txBody>
      </p:sp>
      <p:sp>
        <p:nvSpPr>
          <p:cNvPr id="6" name="Text 4"/>
          <p:cNvSpPr/>
          <p:nvPr/>
        </p:nvSpPr>
        <p:spPr>
          <a:xfrm>
            <a:off x="1066800" y="2060113"/>
            <a:ext cx="2668524" cy="360627"/>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264653"/>
                </a:solidFill>
                <a:latin typeface="Arial" pitchFamily="34" charset="0"/>
                <a:ea typeface="Arial" pitchFamily="34" charset="-122"/>
                <a:cs typeface="Arial" pitchFamily="34" charset="-120"/>
              </a:rPr>
              <a:t>4,8%</a:t>
            </a:r>
            <a:endParaRPr lang="en-US" sz="2400" dirty="0"/>
          </a:p>
        </p:txBody>
      </p:sp>
      <p:sp>
        <p:nvSpPr>
          <p:cNvPr id="7" name="Text 5"/>
          <p:cNvSpPr/>
          <p:nvPr/>
        </p:nvSpPr>
        <p:spPr>
          <a:xfrm>
            <a:off x="1066800" y="2446139"/>
            <a:ext cx="2668524" cy="239977"/>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D4A55"/>
                </a:solidFill>
                <a:latin typeface="Arial" pitchFamily="34" charset="0"/>
                <a:ea typeface="Arial" pitchFamily="34" charset="-122"/>
                <a:cs typeface="Arial" pitchFamily="34" charset="-120"/>
              </a:rPr>
              <a:t>brecha observada</a:t>
            </a:r>
            <a:endParaRPr lang="en-US" sz="1300" dirty="0"/>
          </a:p>
        </p:txBody>
      </p:sp>
      <p:sp>
        <p:nvSpPr>
          <p:cNvPr id="8" name="Shape 6"/>
          <p:cNvSpPr/>
          <p:nvPr/>
        </p:nvSpPr>
        <p:spPr>
          <a:xfrm>
            <a:off x="812800" y="2965518"/>
            <a:ext cx="3048000" cy="1385358"/>
          </a:xfrm>
          <a:prstGeom prst="roundRect">
            <a:avLst>
              <a:gd name="adj" fmla="val 3667"/>
            </a:avLst>
          </a:prstGeom>
          <a:solidFill>
            <a:srgbClr val="FFFFFF"/>
          </a:solidFill>
          <a:ln/>
        </p:spPr>
        <p:txBody>
          <a:bodyPr/>
          <a:lstStyle/>
          <a:p>
            <a:endParaRPr lang="es-AR"/>
          </a:p>
        </p:txBody>
      </p:sp>
      <p:sp>
        <p:nvSpPr>
          <p:cNvPr id="9" name="Shape 7"/>
          <p:cNvSpPr/>
          <p:nvPr/>
        </p:nvSpPr>
        <p:spPr>
          <a:xfrm>
            <a:off x="812800" y="2965518"/>
            <a:ext cx="3048000" cy="1385358"/>
          </a:xfrm>
          <a:custGeom>
            <a:avLst/>
            <a:gdLst/>
            <a:ahLst/>
            <a:cxnLst/>
            <a:rect l="l" t="t" r="r" b="b"/>
            <a:pathLst>
              <a:path w="3048000" h="1385358">
                <a:moveTo>
                  <a:pt x="50800" y="1385358"/>
                </a:moveTo>
                <a:lnTo>
                  <a:pt x="50800" y="1385358"/>
                </a:lnTo>
                <a:arcTo wR="50800" hR="50800" stAng="5400000" swAng="5400000"/>
                <a:lnTo>
                  <a:pt x="0" y="50800"/>
                </a:lnTo>
                <a:arcTo wR="50800" hR="50800" stAng="10800000" swAng="5400000"/>
                <a:lnTo>
                  <a:pt x="50800" y="0"/>
                </a:lnTo>
                <a:lnTo>
                  <a:pt x="50800" y="1385358"/>
                </a:lnTo>
                <a:close/>
              </a:path>
            </a:pathLst>
          </a:custGeom>
          <a:solidFill>
            <a:srgbClr val="E76F51"/>
          </a:solidFill>
          <a:ln/>
        </p:spPr>
        <p:txBody>
          <a:bodyPr/>
          <a:lstStyle/>
          <a:p>
            <a:endParaRPr lang="es-AR"/>
          </a:p>
        </p:txBody>
      </p:sp>
      <p:sp>
        <p:nvSpPr>
          <p:cNvPr id="10" name="Text 8"/>
          <p:cNvSpPr/>
          <p:nvPr/>
        </p:nvSpPr>
        <p:spPr>
          <a:xfrm>
            <a:off x="1066800" y="3143318"/>
            <a:ext cx="2668524" cy="360627"/>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264653"/>
                </a:solidFill>
                <a:latin typeface="Arial" pitchFamily="34" charset="0"/>
                <a:ea typeface="Arial" pitchFamily="34" charset="-122"/>
                <a:cs typeface="Arial" pitchFamily="34" charset="-120"/>
              </a:rPr>
              <a:t>6,4%</a:t>
            </a:r>
            <a:endParaRPr lang="en-US" sz="2400" dirty="0"/>
          </a:p>
        </p:txBody>
      </p:sp>
      <p:sp>
        <p:nvSpPr>
          <p:cNvPr id="11" name="Text 9"/>
          <p:cNvSpPr/>
          <p:nvPr/>
        </p:nvSpPr>
        <p:spPr>
          <a:xfrm>
            <a:off x="1066800" y="3529344"/>
            <a:ext cx="2668524" cy="669131"/>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D4A55"/>
                </a:solidFill>
                <a:latin typeface="Arial" pitchFamily="34" charset="0"/>
                <a:ea typeface="Arial" pitchFamily="34" charset="-122"/>
                <a:cs typeface="Arial" pitchFamily="34" charset="-120"/>
              </a:rPr>
              <a:t>brecha a igual perfil, sobre el umbral de la Directiva (UE) 2023/970</a:t>
            </a:r>
            <a:endParaRPr lang="en-US" sz="1300" dirty="0"/>
          </a:p>
        </p:txBody>
      </p:sp>
      <p:sp>
        <p:nvSpPr>
          <p:cNvPr id="12" name="Shape 10"/>
          <p:cNvSpPr/>
          <p:nvPr/>
        </p:nvSpPr>
        <p:spPr>
          <a:xfrm>
            <a:off x="812800" y="4477879"/>
            <a:ext cx="3048000" cy="1170781"/>
          </a:xfrm>
          <a:prstGeom prst="roundRect">
            <a:avLst>
              <a:gd name="adj" fmla="val 4339"/>
            </a:avLst>
          </a:prstGeom>
          <a:solidFill>
            <a:srgbClr val="FFFFFF"/>
          </a:solidFill>
          <a:ln/>
        </p:spPr>
        <p:txBody>
          <a:bodyPr/>
          <a:lstStyle/>
          <a:p>
            <a:endParaRPr lang="es-AR"/>
          </a:p>
        </p:txBody>
      </p:sp>
      <p:sp>
        <p:nvSpPr>
          <p:cNvPr id="13" name="Shape 11"/>
          <p:cNvSpPr/>
          <p:nvPr/>
        </p:nvSpPr>
        <p:spPr>
          <a:xfrm>
            <a:off x="812800" y="4477879"/>
            <a:ext cx="3048000" cy="1170781"/>
          </a:xfrm>
          <a:custGeom>
            <a:avLst/>
            <a:gdLst/>
            <a:ahLst/>
            <a:cxnLst/>
            <a:rect l="l" t="t" r="r" b="b"/>
            <a:pathLst>
              <a:path w="3048000" h="1170781">
                <a:moveTo>
                  <a:pt x="50800" y="1170781"/>
                </a:moveTo>
                <a:lnTo>
                  <a:pt x="50800" y="1170781"/>
                </a:lnTo>
                <a:arcTo wR="50800" hR="50800" stAng="5400000" swAng="5400000"/>
                <a:lnTo>
                  <a:pt x="0" y="50800"/>
                </a:lnTo>
                <a:arcTo wR="50800" hR="50800" stAng="10800000" swAng="5400000"/>
                <a:lnTo>
                  <a:pt x="50800" y="0"/>
                </a:lnTo>
                <a:lnTo>
                  <a:pt x="50800" y="1170781"/>
                </a:lnTo>
                <a:close/>
              </a:path>
            </a:pathLst>
          </a:custGeom>
          <a:solidFill>
            <a:srgbClr val="264653"/>
          </a:solidFill>
          <a:ln/>
        </p:spPr>
        <p:txBody>
          <a:bodyPr/>
          <a:lstStyle/>
          <a:p>
            <a:endParaRPr lang="es-AR"/>
          </a:p>
        </p:txBody>
      </p:sp>
      <p:sp>
        <p:nvSpPr>
          <p:cNvPr id="14" name="Text 12"/>
          <p:cNvSpPr/>
          <p:nvPr/>
        </p:nvSpPr>
        <p:spPr>
          <a:xfrm>
            <a:off x="1066800" y="4655679"/>
            <a:ext cx="2668524" cy="360627"/>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264653"/>
                </a:solidFill>
                <a:latin typeface="Arial" pitchFamily="34" charset="0"/>
                <a:ea typeface="Arial" pitchFamily="34" charset="-122"/>
                <a:cs typeface="Arial" pitchFamily="34" charset="-120"/>
              </a:rPr>
              <a:t>13-15%</a:t>
            </a:r>
            <a:endParaRPr lang="en-US" sz="2400" dirty="0"/>
          </a:p>
        </p:txBody>
      </p:sp>
      <p:sp>
        <p:nvSpPr>
          <p:cNvPr id="15" name="Text 13"/>
          <p:cNvSpPr/>
          <p:nvPr/>
        </p:nvSpPr>
        <p:spPr>
          <a:xfrm>
            <a:off x="1066800" y="5041702"/>
            <a:ext cx="2668524" cy="454554"/>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D4A55"/>
                </a:solidFill>
                <a:latin typeface="Arial" pitchFamily="34" charset="0"/>
                <a:ea typeface="Arial" pitchFamily="34" charset="-122"/>
                <a:cs typeface="Arial" pitchFamily="34" charset="-120"/>
              </a:rPr>
              <a:t>en comercio, industria y servicios profesionales</a:t>
            </a:r>
            <a:endParaRPr lang="en-US" sz="1300" dirty="0"/>
          </a:p>
        </p:txBody>
      </p:sp>
      <p:pic>
        <p:nvPicPr>
          <p:cNvPr id="16" name="Image 0" descr="Brecha no explicada por grupo de trabajadores frente al umbral del 5%"/>
          <p:cNvPicPr>
            <a:picLocks noChangeAspect="1"/>
          </p:cNvPicPr>
          <p:nvPr/>
        </p:nvPicPr>
        <p:blipFill>
          <a:blip r:embed="rId3"/>
          <a:srcRect t="-716" b="-716"/>
          <a:stretch/>
        </p:blipFill>
        <p:spPr>
          <a:xfrm>
            <a:off x="4114800" y="2165285"/>
            <a:ext cx="7264400" cy="3200400"/>
          </a:xfrm>
          <a:prstGeom prst="rect">
            <a:avLst/>
          </a:prstGeom>
        </p:spPr>
      </p:pic>
      <p:sp>
        <p:nvSpPr>
          <p:cNvPr id="17" name="Text 14"/>
          <p:cNvSpPr/>
          <p:nvPr/>
        </p:nvSpPr>
        <p:spPr>
          <a:xfrm>
            <a:off x="812800" y="62890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Arial" pitchFamily="34" charset="0"/>
                <a:ea typeface="Arial" pitchFamily="34" charset="-122"/>
                <a:cs typeface="Arial" pitchFamily="34" charset="-120"/>
              </a:rPr>
              <a:t>Determinantes y predicción del salario de las mujeres asalariadas en Argentina · TFM UCM</a:t>
            </a:r>
            <a:endParaRPr lang="en-US" sz="1200" dirty="0"/>
          </a:p>
        </p:txBody>
      </p:sp>
      <p:sp>
        <p:nvSpPr>
          <p:cNvPr id="18" name="Text 15"/>
          <p:cNvSpPr/>
          <p:nvPr/>
        </p:nvSpPr>
        <p:spPr>
          <a:xfrm>
            <a:off x="10058400" y="62890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64653"/>
                </a:solidFill>
                <a:latin typeface="Arial" pitchFamily="34" charset="0"/>
                <a:ea typeface="Arial" pitchFamily="34" charset="-122"/>
                <a:cs typeface="Arial" pitchFamily="34" charset="-120"/>
              </a:rPr>
              <a:t>8 / 12</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A9D8F"/>
                </a:solidFill>
                <a:latin typeface="Arial" pitchFamily="34" charset="0"/>
                <a:ea typeface="Arial" pitchFamily="34" charset="-122"/>
                <a:cs typeface="Arial" pitchFamily="34" charset="-120"/>
              </a:rPr>
              <a:t>DEL MODELO A LA HERRAMIENTA</a:t>
            </a:r>
            <a:endParaRPr lang="en-US" sz="1300" dirty="0"/>
          </a:p>
        </p:txBody>
      </p:sp>
      <p:sp>
        <p:nvSpPr>
          <p:cNvPr id="3" name="Text 1"/>
          <p:cNvSpPr>
            <a:spLocks noGrp="1"/>
          </p:cNvSpPr>
          <p:nvPr>
            <p:ph type="title"/>
          </p:nvPr>
        </p:nvSpPr>
        <p:spPr>
          <a:xfrm>
            <a:off x="812800" y="1094718"/>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264653"/>
                </a:solidFill>
                <a:latin typeface="Arial" pitchFamily="34" charset="0"/>
                <a:ea typeface="Arial" pitchFamily="34" charset="-122"/>
                <a:cs typeface="Arial" pitchFamily="34" charset="-120"/>
              </a:rPr>
              <a:t>Bandas de mercado y auditoría de nómina</a:t>
            </a:r>
            <a:endParaRPr lang="en-US" sz="2800" dirty="0"/>
          </a:p>
        </p:txBody>
      </p:sp>
      <p:sp>
        <p:nvSpPr>
          <p:cNvPr id="4" name="Shape 2"/>
          <p:cNvSpPr/>
          <p:nvPr/>
        </p:nvSpPr>
        <p:spPr>
          <a:xfrm>
            <a:off x="812800" y="1689038"/>
            <a:ext cx="5130800" cy="2984500"/>
          </a:xfrm>
          <a:prstGeom prst="roundRect">
            <a:avLst>
              <a:gd name="adj" fmla="val 1702"/>
            </a:avLst>
          </a:prstGeom>
          <a:solidFill>
            <a:srgbClr val="EEF5F4"/>
          </a:solidFill>
          <a:ln/>
        </p:spPr>
        <p:txBody>
          <a:bodyPr/>
          <a:lstStyle/>
          <a:p>
            <a:endParaRPr lang="es-AR"/>
          </a:p>
        </p:txBody>
      </p:sp>
      <p:pic>
        <p:nvPicPr>
          <p:cNvPr id="5" name="Image 0" descr="Simulador de la aplicación: salario esperado, banda y welfare ratio"/>
          <p:cNvPicPr>
            <a:picLocks noChangeAspect="1"/>
          </p:cNvPicPr>
          <p:nvPr/>
        </p:nvPicPr>
        <p:blipFill>
          <a:blip r:embed="rId3"/>
          <a:stretch>
            <a:fillRect/>
          </a:stretch>
        </p:blipFill>
        <p:spPr>
          <a:xfrm>
            <a:off x="1289050" y="1689038"/>
            <a:ext cx="4178300" cy="2984500"/>
          </a:xfrm>
          <a:prstGeom prst="rect">
            <a:avLst/>
          </a:prstGeom>
        </p:spPr>
      </p:pic>
      <p:sp>
        <p:nvSpPr>
          <p:cNvPr id="6" name="Text 3"/>
          <p:cNvSpPr/>
          <p:nvPr/>
        </p:nvSpPr>
        <p:spPr>
          <a:xfrm>
            <a:off x="812800" y="4749738"/>
            <a:ext cx="5284724" cy="487627"/>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64653"/>
                </a:solidFill>
                <a:latin typeface="Arial" pitchFamily="34" charset="0"/>
                <a:ea typeface="Arial" pitchFamily="34" charset="-122"/>
                <a:cs typeface="Arial" pitchFamily="34" charset="-120"/>
              </a:rPr>
              <a:t>Banda del 90%:</a:t>
            </a:r>
            <a:r>
              <a:rPr lang="en-US" sz="1300" dirty="0">
                <a:solidFill>
                  <a:srgbClr val="264653"/>
                </a:solidFill>
                <a:latin typeface="Arial" pitchFamily="34" charset="0"/>
                <a:ea typeface="Arial" pitchFamily="34" charset="-122"/>
                <a:cs typeface="Arial" pitchFamily="34" charset="-120"/>
              </a:rPr>
              <a:t> el núcleo de la referencia salarial, con su welfare ratio</a:t>
            </a:r>
            <a:endParaRPr lang="en-US" sz="1300" dirty="0"/>
          </a:p>
        </p:txBody>
      </p:sp>
      <p:sp>
        <p:nvSpPr>
          <p:cNvPr id="7" name="Shape 4"/>
          <p:cNvSpPr/>
          <p:nvPr/>
        </p:nvSpPr>
        <p:spPr>
          <a:xfrm>
            <a:off x="6248400" y="1689038"/>
            <a:ext cx="5130800" cy="2984500"/>
          </a:xfrm>
          <a:prstGeom prst="roundRect">
            <a:avLst>
              <a:gd name="adj" fmla="val 1702"/>
            </a:avLst>
          </a:prstGeom>
          <a:solidFill>
            <a:srgbClr val="EEF5F4"/>
          </a:solidFill>
          <a:ln/>
        </p:spPr>
        <p:txBody>
          <a:bodyPr/>
          <a:lstStyle/>
          <a:p>
            <a:endParaRPr lang="es-AR"/>
          </a:p>
        </p:txBody>
      </p:sp>
      <p:pic>
        <p:nvPicPr>
          <p:cNvPr id="8" name="Image 1" descr="Auditoría de nómina con la brecha de género a igual perfil"/>
          <p:cNvPicPr>
            <a:picLocks noChangeAspect="1"/>
          </p:cNvPicPr>
          <p:nvPr/>
        </p:nvPicPr>
        <p:blipFill>
          <a:blip r:embed="rId4"/>
          <a:stretch>
            <a:fillRect/>
          </a:stretch>
        </p:blipFill>
        <p:spPr>
          <a:xfrm>
            <a:off x="6724650" y="1689038"/>
            <a:ext cx="4178300" cy="2984500"/>
          </a:xfrm>
          <a:prstGeom prst="rect">
            <a:avLst/>
          </a:prstGeom>
        </p:spPr>
      </p:pic>
      <p:sp>
        <p:nvSpPr>
          <p:cNvPr id="9" name="Text 5"/>
          <p:cNvSpPr/>
          <p:nvPr/>
        </p:nvSpPr>
        <p:spPr>
          <a:xfrm>
            <a:off x="6248400" y="4749738"/>
            <a:ext cx="5284724" cy="487627"/>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64653"/>
                </a:solidFill>
                <a:latin typeface="Arial" pitchFamily="34" charset="0"/>
                <a:ea typeface="Arial" pitchFamily="34" charset="-122"/>
                <a:cs typeface="Arial" pitchFamily="34" charset="-120"/>
              </a:rPr>
              <a:t>Auditoría:</a:t>
            </a:r>
            <a:r>
              <a:rPr lang="en-US" sz="1300" dirty="0">
                <a:solidFill>
                  <a:srgbClr val="264653"/>
                </a:solidFill>
                <a:latin typeface="Arial" pitchFamily="34" charset="0"/>
                <a:ea typeface="Arial" pitchFamily="34" charset="-122"/>
                <a:cs typeface="Arial" pitchFamily="34" charset="-120"/>
              </a:rPr>
              <a:t> quién cobra fuera de la banda y brecha por grupo frente al 5%</a:t>
            </a:r>
            <a:endParaRPr lang="en-US" sz="1300" dirty="0"/>
          </a:p>
        </p:txBody>
      </p:sp>
      <p:sp>
        <p:nvSpPr>
          <p:cNvPr id="10" name="Text 6"/>
          <p:cNvSpPr/>
          <p:nvPr/>
        </p:nvSpPr>
        <p:spPr>
          <a:xfrm>
            <a:off x="812800" y="62890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Arial" pitchFamily="34" charset="0"/>
                <a:ea typeface="Arial" pitchFamily="34" charset="-122"/>
                <a:cs typeface="Arial" pitchFamily="34" charset="-120"/>
              </a:rPr>
              <a:t>Determinantes y predicción del salario de las mujeres asalariadas en Argentina · TFM UCM</a:t>
            </a:r>
            <a:endParaRPr lang="en-US" sz="1200" dirty="0"/>
          </a:p>
        </p:txBody>
      </p:sp>
      <p:sp>
        <p:nvSpPr>
          <p:cNvPr id="11" name="Text 7"/>
          <p:cNvSpPr/>
          <p:nvPr/>
        </p:nvSpPr>
        <p:spPr>
          <a:xfrm>
            <a:off x="10058400" y="62890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64653"/>
                </a:solidFill>
                <a:latin typeface="Arial" pitchFamily="34" charset="0"/>
                <a:ea typeface="Arial" pitchFamily="34" charset="-122"/>
                <a:cs typeface="Arial" pitchFamily="34" charset="-120"/>
              </a:rPr>
              <a:t>10 / 12</a:t>
            </a:r>
            <a:endParaRPr lang="en-US" sz="1200" dirty="0"/>
          </a:p>
        </p:txBody>
      </p:sp>
      <p:sp>
        <p:nvSpPr>
          <p:cNvPr id="13" name="CuadroTexto 12">
            <a:extLst>
              <a:ext uri="{FF2B5EF4-FFF2-40B4-BE49-F238E27FC236}">
                <a16:creationId xmlns:a16="http://schemas.microsoft.com/office/drawing/2014/main" id="{1A716AEB-0631-9F24-6E37-64AA03C67021}"/>
              </a:ext>
            </a:extLst>
          </p:cNvPr>
          <p:cNvSpPr txBox="1"/>
          <p:nvPr/>
        </p:nvSpPr>
        <p:spPr>
          <a:xfrm>
            <a:off x="812800" y="5393890"/>
            <a:ext cx="6094476" cy="369332"/>
          </a:xfrm>
          <a:prstGeom prst="rect">
            <a:avLst/>
          </a:prstGeom>
          <a:noFill/>
        </p:spPr>
        <p:txBody>
          <a:bodyPr wrap="square">
            <a:spAutoFit/>
          </a:bodyPr>
          <a:lstStyle/>
          <a:p>
            <a:r>
              <a:rPr lang="es-AR" dirty="0" err="1">
                <a:hlinkClick r:id="rId5"/>
              </a:rPr>
              <a:t>tfm-olguin-patricia.streamlit.app</a:t>
            </a:r>
            <a:endParaRPr lang="es-A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A9D8F"/>
                </a:solidFill>
                <a:latin typeface="Arial" pitchFamily="34" charset="0"/>
                <a:ea typeface="Arial" pitchFamily="34" charset="-122"/>
                <a:cs typeface="Arial" pitchFamily="34" charset="-120"/>
              </a:rPr>
              <a:t>CIERRE</a:t>
            </a:r>
            <a:endParaRPr lang="en-US" sz="1300" dirty="0"/>
          </a:p>
        </p:txBody>
      </p:sp>
      <p:sp>
        <p:nvSpPr>
          <p:cNvPr id="3" name="Text 1"/>
          <p:cNvSpPr>
            <a:spLocks noGrp="1"/>
          </p:cNvSpPr>
          <p:nvPr>
            <p:ph type="title"/>
          </p:nvPr>
        </p:nvSpPr>
        <p:spPr>
          <a:xfrm>
            <a:off x="812800" y="1094718"/>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264653"/>
                </a:solidFill>
                <a:latin typeface="Arial" pitchFamily="34" charset="0"/>
                <a:ea typeface="Arial" pitchFamily="34" charset="-122"/>
                <a:cs typeface="Arial" pitchFamily="34" charset="-120"/>
              </a:rPr>
              <a:t>Conclusiones, retos y lecciones aprendidas</a:t>
            </a:r>
            <a:endParaRPr lang="en-US" sz="2800" dirty="0"/>
          </a:p>
        </p:txBody>
      </p:sp>
      <p:sp>
        <p:nvSpPr>
          <p:cNvPr id="4" name="Shape 2"/>
          <p:cNvSpPr/>
          <p:nvPr/>
        </p:nvSpPr>
        <p:spPr>
          <a:xfrm>
            <a:off x="812800" y="1689038"/>
            <a:ext cx="3386667" cy="4152966"/>
          </a:xfrm>
          <a:prstGeom prst="roundRect">
            <a:avLst>
              <a:gd name="adj" fmla="val 1500"/>
            </a:avLst>
          </a:prstGeom>
          <a:solidFill>
            <a:srgbClr val="FFFFFF"/>
          </a:solidFill>
          <a:ln/>
        </p:spPr>
        <p:txBody>
          <a:bodyPr/>
          <a:lstStyle/>
          <a:p>
            <a:endParaRPr lang="es-AR"/>
          </a:p>
        </p:txBody>
      </p:sp>
      <p:sp>
        <p:nvSpPr>
          <p:cNvPr id="5" name="Shape 3"/>
          <p:cNvSpPr/>
          <p:nvPr/>
        </p:nvSpPr>
        <p:spPr>
          <a:xfrm>
            <a:off x="812800" y="1689038"/>
            <a:ext cx="3386667" cy="4152966"/>
          </a:xfrm>
          <a:custGeom>
            <a:avLst/>
            <a:gdLst/>
            <a:ahLst/>
            <a:cxnLst/>
            <a:rect l="l" t="t" r="r" b="b"/>
            <a:pathLst>
              <a:path w="3386667" h="4152966">
                <a:moveTo>
                  <a:pt x="0" y="63500"/>
                </a:moveTo>
                <a:lnTo>
                  <a:pt x="0" y="50800"/>
                </a:lnTo>
                <a:arcTo wR="50800" hR="50800" stAng="10800000" swAng="5400000"/>
                <a:lnTo>
                  <a:pt x="3335867" y="0"/>
                </a:lnTo>
                <a:arcTo wR="50800" hR="50800" stAng="16200000" swAng="5400000"/>
                <a:lnTo>
                  <a:pt x="3386667" y="63500"/>
                </a:lnTo>
                <a:lnTo>
                  <a:pt x="0" y="63500"/>
                </a:lnTo>
                <a:close/>
              </a:path>
            </a:pathLst>
          </a:custGeom>
          <a:solidFill>
            <a:srgbClr val="2A9D8F"/>
          </a:solidFill>
          <a:ln/>
        </p:spPr>
        <p:txBody>
          <a:bodyPr/>
          <a:lstStyle/>
          <a:p>
            <a:endParaRPr lang="es-AR"/>
          </a:p>
        </p:txBody>
      </p:sp>
      <p:sp>
        <p:nvSpPr>
          <p:cNvPr id="6" name="Text 4"/>
          <p:cNvSpPr/>
          <p:nvPr/>
        </p:nvSpPr>
        <p:spPr>
          <a:xfrm>
            <a:off x="1016000" y="1955738"/>
            <a:ext cx="3069675"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264653"/>
                </a:solidFill>
                <a:latin typeface="Arial" pitchFamily="34" charset="0"/>
                <a:ea typeface="Arial" pitchFamily="34" charset="-122"/>
                <a:cs typeface="Arial" pitchFamily="34" charset="-120"/>
              </a:rPr>
              <a:t>Conclusiones</a:t>
            </a:r>
            <a:endParaRPr lang="en-US" sz="2000" dirty="0"/>
          </a:p>
        </p:txBody>
      </p:sp>
      <p:sp>
        <p:nvSpPr>
          <p:cNvPr id="7" name="Text 5"/>
          <p:cNvSpPr/>
          <p:nvPr/>
        </p:nvSpPr>
        <p:spPr>
          <a:xfrm>
            <a:off x="1092708" y="2362138"/>
            <a:ext cx="2985347" cy="2016390"/>
          </a:xfrm>
          <a:prstGeom prst="rect">
            <a:avLst/>
          </a:prstGeom>
          <a:noFill/>
          <a:ln/>
        </p:spPr>
        <p:txBody>
          <a:bodyPr wrap="square" lIns="0" tIns="0" rIns="0" bIns="0" rtlCol="0" anchor="t">
            <a:normAutofit/>
          </a:bodyPr>
          <a:lstStyle/>
          <a:p>
            <a:pPr marL="177292" indent="-177292" algn="l">
              <a:lnSpc>
                <a:spcPts val="2240"/>
              </a:lnSpc>
              <a:buSzPct val="100000"/>
              <a:buChar char="•"/>
            </a:pPr>
            <a:r>
              <a:rPr lang="en-US" sz="1600" dirty="0">
                <a:solidFill>
                  <a:srgbClr val="3D4A55"/>
                </a:solidFill>
                <a:latin typeface="Arial" pitchFamily="34" charset="0"/>
                <a:ea typeface="Arial" pitchFamily="34" charset="-122"/>
                <a:cs typeface="Arial" pitchFamily="34" charset="-120"/>
              </a:rPr>
              <a:t>El tipo de empleo pesa más que la formación</a:t>
            </a:r>
            <a:endParaRPr lang="en-US" sz="1600" dirty="0"/>
          </a:p>
          <a:p>
            <a:pPr marL="177292" indent="-177292" algn="l">
              <a:lnSpc>
                <a:spcPts val="2240"/>
              </a:lnSpc>
              <a:buSzPct val="100000"/>
              <a:buChar char="•"/>
            </a:pPr>
            <a:r>
              <a:rPr lang="en-US" sz="1600" dirty="0">
                <a:solidFill>
                  <a:srgbClr val="3D4A55"/>
                </a:solidFill>
                <a:latin typeface="Arial" pitchFamily="34" charset="0"/>
                <a:ea typeface="Arial" pitchFamily="34" charset="-122"/>
                <a:cs typeface="Arial" pitchFamily="34" charset="-120"/>
              </a:rPr>
              <a:t>El territorio pesa menos de lo que parece; Vaca Muerta ya se nota</a:t>
            </a:r>
            <a:endParaRPr lang="en-US" sz="1600" dirty="0"/>
          </a:p>
          <a:p>
            <a:pPr marL="177292" indent="-177292" algn="l">
              <a:lnSpc>
                <a:spcPts val="2240"/>
              </a:lnSpc>
              <a:buSzPct val="100000"/>
              <a:buChar char="•"/>
            </a:pPr>
            <a:r>
              <a:rPr lang="en-US" sz="1600" dirty="0">
                <a:solidFill>
                  <a:srgbClr val="3D4A55"/>
                </a:solidFill>
                <a:latin typeface="Arial" pitchFamily="34" charset="0"/>
                <a:ea typeface="Arial" pitchFamily="34" charset="-122"/>
                <a:cs typeface="Arial" pitchFamily="34" charset="-120"/>
              </a:rPr>
              <a:t>El salario mediano no alcanza para una familia tipo</a:t>
            </a:r>
            <a:endParaRPr lang="en-US" sz="1600" dirty="0"/>
          </a:p>
        </p:txBody>
      </p:sp>
      <p:sp>
        <p:nvSpPr>
          <p:cNvPr id="8" name="Shape 6"/>
          <p:cNvSpPr/>
          <p:nvPr/>
        </p:nvSpPr>
        <p:spPr>
          <a:xfrm>
            <a:off x="4402667" y="1689038"/>
            <a:ext cx="3386667" cy="4152966"/>
          </a:xfrm>
          <a:prstGeom prst="roundRect">
            <a:avLst>
              <a:gd name="adj" fmla="val 1500"/>
            </a:avLst>
          </a:prstGeom>
          <a:solidFill>
            <a:srgbClr val="FFFFFF"/>
          </a:solidFill>
          <a:ln/>
        </p:spPr>
        <p:txBody>
          <a:bodyPr/>
          <a:lstStyle/>
          <a:p>
            <a:endParaRPr lang="es-AR"/>
          </a:p>
        </p:txBody>
      </p:sp>
      <p:sp>
        <p:nvSpPr>
          <p:cNvPr id="9" name="Shape 7"/>
          <p:cNvSpPr/>
          <p:nvPr/>
        </p:nvSpPr>
        <p:spPr>
          <a:xfrm>
            <a:off x="4402667" y="1689038"/>
            <a:ext cx="3386667" cy="4152966"/>
          </a:xfrm>
          <a:custGeom>
            <a:avLst/>
            <a:gdLst/>
            <a:ahLst/>
            <a:cxnLst/>
            <a:rect l="l" t="t" r="r" b="b"/>
            <a:pathLst>
              <a:path w="3386667" h="4152966">
                <a:moveTo>
                  <a:pt x="0" y="63500"/>
                </a:moveTo>
                <a:lnTo>
                  <a:pt x="0" y="50800"/>
                </a:lnTo>
                <a:arcTo wR="50800" hR="50800" stAng="10800000" swAng="5400000"/>
                <a:lnTo>
                  <a:pt x="3335867" y="0"/>
                </a:lnTo>
                <a:arcTo wR="50800" hR="50800" stAng="16200000" swAng="5400000"/>
                <a:lnTo>
                  <a:pt x="3386667" y="63500"/>
                </a:lnTo>
                <a:lnTo>
                  <a:pt x="0" y="63500"/>
                </a:lnTo>
                <a:close/>
              </a:path>
            </a:pathLst>
          </a:custGeom>
          <a:solidFill>
            <a:srgbClr val="E9C46A"/>
          </a:solidFill>
          <a:ln/>
        </p:spPr>
        <p:txBody>
          <a:bodyPr/>
          <a:lstStyle/>
          <a:p>
            <a:endParaRPr lang="es-AR"/>
          </a:p>
        </p:txBody>
      </p:sp>
      <p:sp>
        <p:nvSpPr>
          <p:cNvPr id="10" name="Text 8"/>
          <p:cNvSpPr/>
          <p:nvPr/>
        </p:nvSpPr>
        <p:spPr>
          <a:xfrm>
            <a:off x="4605867" y="1955738"/>
            <a:ext cx="3069675"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264653"/>
                </a:solidFill>
                <a:latin typeface="Arial" pitchFamily="34" charset="0"/>
                <a:ea typeface="Arial" pitchFamily="34" charset="-122"/>
                <a:cs typeface="Arial" pitchFamily="34" charset="-120"/>
              </a:rPr>
              <a:t>Retos</a:t>
            </a:r>
            <a:endParaRPr lang="en-US" sz="2000" dirty="0"/>
          </a:p>
        </p:txBody>
      </p:sp>
      <p:sp>
        <p:nvSpPr>
          <p:cNvPr id="11" name="Text 9"/>
          <p:cNvSpPr/>
          <p:nvPr/>
        </p:nvSpPr>
        <p:spPr>
          <a:xfrm>
            <a:off x="4682575" y="2362138"/>
            <a:ext cx="2985347" cy="1731963"/>
          </a:xfrm>
          <a:prstGeom prst="rect">
            <a:avLst/>
          </a:prstGeom>
          <a:noFill/>
          <a:ln/>
        </p:spPr>
        <p:txBody>
          <a:bodyPr wrap="square" lIns="0" tIns="0" rIns="0" bIns="0" rtlCol="0" anchor="t">
            <a:normAutofit/>
          </a:bodyPr>
          <a:lstStyle/>
          <a:p>
            <a:pPr marL="177292" indent="-177292" algn="l">
              <a:lnSpc>
                <a:spcPts val="2240"/>
              </a:lnSpc>
              <a:buSzPct val="100000"/>
              <a:buChar char="•"/>
            </a:pPr>
            <a:r>
              <a:rPr lang="en-US" sz="1600" dirty="0">
                <a:solidFill>
                  <a:srgbClr val="3D4A55"/>
                </a:solidFill>
                <a:latin typeface="Arial" pitchFamily="34" charset="0"/>
                <a:ea typeface="Arial" pitchFamily="34" charset="-122"/>
                <a:cs typeface="Arial" pitchFamily="34" charset="-120"/>
              </a:rPr>
              <a:t>Neutralizar una inflación que triplicó los salarios</a:t>
            </a:r>
            <a:endParaRPr lang="en-US" sz="1600" dirty="0"/>
          </a:p>
          <a:p>
            <a:pPr marL="177292" indent="-177292" algn="l">
              <a:lnSpc>
                <a:spcPts val="2240"/>
              </a:lnSpc>
              <a:buSzPct val="100000"/>
              <a:buChar char="•"/>
            </a:pPr>
            <a:r>
              <a:rPr lang="en-US" sz="1600" dirty="0">
                <a:solidFill>
                  <a:srgbClr val="3D4A55"/>
                </a:solidFill>
                <a:latin typeface="Arial" pitchFamily="34" charset="0"/>
                <a:ea typeface="Arial" pitchFamily="34" charset="-122"/>
                <a:cs typeface="Arial" pitchFamily="34" charset="-120"/>
              </a:rPr>
              <a:t>Construir variables del hogar que la encuesta no pregunta</a:t>
            </a:r>
            <a:endParaRPr lang="en-US" sz="1600" dirty="0"/>
          </a:p>
          <a:p>
            <a:pPr marL="177292" indent="-177292" algn="l">
              <a:lnSpc>
                <a:spcPts val="2240"/>
              </a:lnSpc>
              <a:buSzPct val="100000"/>
              <a:buChar char="•"/>
            </a:pPr>
            <a:r>
              <a:rPr lang="en-US" sz="1600" dirty="0">
                <a:solidFill>
                  <a:srgbClr val="3D4A55"/>
                </a:solidFill>
                <a:latin typeface="Arial" pitchFamily="34" charset="0"/>
                <a:ea typeface="Arial" pitchFamily="34" charset="-122"/>
                <a:cs typeface="Arial" pitchFamily="34" charset="-120"/>
              </a:rPr>
              <a:t>Armonizar tres encuestas de tres países</a:t>
            </a:r>
            <a:endParaRPr lang="en-US" sz="1600" dirty="0"/>
          </a:p>
        </p:txBody>
      </p:sp>
      <p:sp>
        <p:nvSpPr>
          <p:cNvPr id="12" name="Shape 10"/>
          <p:cNvSpPr/>
          <p:nvPr/>
        </p:nvSpPr>
        <p:spPr>
          <a:xfrm>
            <a:off x="7992534" y="1689038"/>
            <a:ext cx="3386667" cy="4152966"/>
          </a:xfrm>
          <a:prstGeom prst="roundRect">
            <a:avLst>
              <a:gd name="adj" fmla="val 1500"/>
            </a:avLst>
          </a:prstGeom>
          <a:solidFill>
            <a:srgbClr val="FFFFFF"/>
          </a:solidFill>
          <a:ln/>
        </p:spPr>
        <p:txBody>
          <a:bodyPr/>
          <a:lstStyle/>
          <a:p>
            <a:endParaRPr lang="es-AR"/>
          </a:p>
        </p:txBody>
      </p:sp>
      <p:sp>
        <p:nvSpPr>
          <p:cNvPr id="13" name="Shape 11"/>
          <p:cNvSpPr/>
          <p:nvPr/>
        </p:nvSpPr>
        <p:spPr>
          <a:xfrm>
            <a:off x="7992534" y="1689038"/>
            <a:ext cx="3386667" cy="4152966"/>
          </a:xfrm>
          <a:custGeom>
            <a:avLst/>
            <a:gdLst/>
            <a:ahLst/>
            <a:cxnLst/>
            <a:rect l="l" t="t" r="r" b="b"/>
            <a:pathLst>
              <a:path w="3386667" h="4152966">
                <a:moveTo>
                  <a:pt x="0" y="63500"/>
                </a:moveTo>
                <a:lnTo>
                  <a:pt x="0" y="50800"/>
                </a:lnTo>
                <a:arcTo wR="50800" hR="50800" stAng="10800000" swAng="5400000"/>
                <a:lnTo>
                  <a:pt x="3335867" y="0"/>
                </a:lnTo>
                <a:arcTo wR="50800" hR="50800" stAng="16200000" swAng="5400000"/>
                <a:lnTo>
                  <a:pt x="3386667" y="63500"/>
                </a:lnTo>
                <a:lnTo>
                  <a:pt x="0" y="63500"/>
                </a:lnTo>
                <a:close/>
              </a:path>
            </a:pathLst>
          </a:custGeom>
          <a:solidFill>
            <a:srgbClr val="E76F51"/>
          </a:solidFill>
          <a:ln/>
        </p:spPr>
        <p:txBody>
          <a:bodyPr/>
          <a:lstStyle/>
          <a:p>
            <a:endParaRPr lang="es-AR"/>
          </a:p>
        </p:txBody>
      </p:sp>
      <p:sp>
        <p:nvSpPr>
          <p:cNvPr id="14" name="Text 12"/>
          <p:cNvSpPr/>
          <p:nvPr/>
        </p:nvSpPr>
        <p:spPr>
          <a:xfrm>
            <a:off x="8195734" y="1955738"/>
            <a:ext cx="3069675"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264653"/>
                </a:solidFill>
                <a:latin typeface="Arial" pitchFamily="34" charset="0"/>
                <a:ea typeface="Arial" pitchFamily="34" charset="-122"/>
                <a:cs typeface="Arial" pitchFamily="34" charset="-120"/>
              </a:rPr>
              <a:t>Lecciones aprendidas</a:t>
            </a:r>
            <a:endParaRPr lang="en-US" sz="2000" dirty="0"/>
          </a:p>
        </p:txBody>
      </p:sp>
      <p:sp>
        <p:nvSpPr>
          <p:cNvPr id="15" name="Text 13"/>
          <p:cNvSpPr/>
          <p:nvPr/>
        </p:nvSpPr>
        <p:spPr>
          <a:xfrm>
            <a:off x="8272442" y="2362138"/>
            <a:ext cx="2985347" cy="1447535"/>
          </a:xfrm>
          <a:prstGeom prst="rect">
            <a:avLst/>
          </a:prstGeom>
          <a:noFill/>
          <a:ln/>
        </p:spPr>
        <p:txBody>
          <a:bodyPr wrap="square" lIns="0" tIns="0" rIns="0" bIns="0" rtlCol="0" anchor="t">
            <a:normAutofit/>
          </a:bodyPr>
          <a:lstStyle/>
          <a:p>
            <a:pPr marL="177292" indent="-177292" algn="l">
              <a:lnSpc>
                <a:spcPts val="2240"/>
              </a:lnSpc>
              <a:buSzPct val="100000"/>
              <a:buChar char="•"/>
            </a:pPr>
            <a:r>
              <a:rPr lang="en-US" sz="1600" dirty="0">
                <a:solidFill>
                  <a:srgbClr val="3D4A55"/>
                </a:solidFill>
                <a:latin typeface="Arial" pitchFamily="34" charset="0"/>
                <a:ea typeface="Arial" pitchFamily="34" charset="-122"/>
                <a:cs typeface="Arial" pitchFamily="34" charset="-120"/>
              </a:rPr>
              <a:t>Validar en el futuro, no al azar</a:t>
            </a:r>
            <a:endParaRPr lang="en-US" sz="1600" dirty="0"/>
          </a:p>
          <a:p>
            <a:pPr marL="177292" indent="-177292" algn="l">
              <a:lnSpc>
                <a:spcPts val="2240"/>
              </a:lnSpc>
              <a:buSzPct val="100000"/>
              <a:buChar char="•"/>
            </a:pPr>
            <a:r>
              <a:rPr lang="en-US" sz="1600" dirty="0">
                <a:solidFill>
                  <a:srgbClr val="3D4A55"/>
                </a:solidFill>
                <a:latin typeface="Arial" pitchFamily="34" charset="0"/>
                <a:ea typeface="Arial" pitchFamily="34" charset="-122"/>
                <a:cs typeface="Arial" pitchFamily="34" charset="-120"/>
              </a:rPr>
              <a:t>Medir lo que ya ocurre antes que pronosticar</a:t>
            </a:r>
            <a:endParaRPr lang="en-US" sz="1600" dirty="0"/>
          </a:p>
          <a:p>
            <a:pPr marL="177292" indent="-177292" algn="l">
              <a:lnSpc>
                <a:spcPts val="2240"/>
              </a:lnSpc>
              <a:buSzPct val="100000"/>
              <a:buChar char="•"/>
            </a:pPr>
            <a:r>
              <a:rPr lang="en-US" sz="1600" dirty="0">
                <a:solidFill>
                  <a:srgbClr val="3D4A55"/>
                </a:solidFill>
                <a:latin typeface="Arial" pitchFamily="34" charset="0"/>
                <a:ea typeface="Arial" pitchFamily="34" charset="-122"/>
                <a:cs typeface="Arial" pitchFamily="34" charset="-120"/>
              </a:rPr>
              <a:t>Traducir el modelo en un producto útil</a:t>
            </a:r>
            <a:endParaRPr lang="en-US" sz="1600" dirty="0"/>
          </a:p>
        </p:txBody>
      </p:sp>
      <p:sp>
        <p:nvSpPr>
          <p:cNvPr id="16" name="Text 14"/>
          <p:cNvSpPr/>
          <p:nvPr/>
        </p:nvSpPr>
        <p:spPr>
          <a:xfrm>
            <a:off x="812800" y="62890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Arial" pitchFamily="34" charset="0"/>
                <a:ea typeface="Arial" pitchFamily="34" charset="-122"/>
                <a:cs typeface="Arial" pitchFamily="34" charset="-120"/>
              </a:rPr>
              <a:t>Determinantes y predicción del salario de las mujeres asalariadas en Argentina · TFM UCM</a:t>
            </a:r>
            <a:endParaRPr lang="en-US" sz="1200" dirty="0"/>
          </a:p>
        </p:txBody>
      </p:sp>
      <p:sp>
        <p:nvSpPr>
          <p:cNvPr id="17" name="Text 15"/>
          <p:cNvSpPr/>
          <p:nvPr/>
        </p:nvSpPr>
        <p:spPr>
          <a:xfrm>
            <a:off x="10058400" y="62890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64653"/>
                </a:solidFill>
                <a:latin typeface="Arial" pitchFamily="34" charset="0"/>
                <a:ea typeface="Arial" pitchFamily="34" charset="-122"/>
                <a:cs typeface="Arial" pitchFamily="34" charset="-120"/>
              </a:rPr>
              <a:t>11 / 12</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64653"/>
        </a:solidFill>
        <a:effectLst/>
      </p:bgPr>
    </p:bg>
    <p:spTree>
      <p:nvGrpSpPr>
        <p:cNvPr id="1" name=""/>
        <p:cNvGrpSpPr/>
        <p:nvPr/>
      </p:nvGrpSpPr>
      <p:grpSpPr>
        <a:xfrm>
          <a:off x="0" y="0"/>
          <a:ext cx="0" cy="0"/>
          <a:chOff x="0" y="0"/>
          <a:chExt cx="0" cy="0"/>
        </a:xfrm>
      </p:grpSpPr>
      <p:sp>
        <p:nvSpPr>
          <p:cNvPr id="2" name="Text 0"/>
          <p:cNvSpPr/>
          <p:nvPr/>
        </p:nvSpPr>
        <p:spPr>
          <a:xfrm>
            <a:off x="812800" y="1703127"/>
            <a:ext cx="10883392" cy="274307"/>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E9C46A"/>
                </a:solidFill>
                <a:latin typeface="Arial" pitchFamily="34" charset="0"/>
                <a:ea typeface="Arial" pitchFamily="34" charset="-122"/>
                <a:cs typeface="Arial" pitchFamily="34" charset="-120"/>
              </a:rPr>
              <a:t>GRACIAS</a:t>
            </a:r>
            <a:endParaRPr lang="en-US" sz="1400" dirty="0"/>
          </a:p>
        </p:txBody>
      </p:sp>
      <p:sp>
        <p:nvSpPr>
          <p:cNvPr id="3" name="Text 1"/>
          <p:cNvSpPr>
            <a:spLocks noGrp="1"/>
          </p:cNvSpPr>
          <p:nvPr>
            <p:ph type="title"/>
          </p:nvPr>
        </p:nvSpPr>
        <p:spPr>
          <a:xfrm>
            <a:off x="812800" y="2231430"/>
            <a:ext cx="9810750" cy="1076854"/>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FBFAF6"/>
                </a:solidFill>
                <a:latin typeface="Arial" pitchFamily="34" charset="0"/>
                <a:ea typeface="Arial" pitchFamily="34" charset="-122"/>
                <a:cs typeface="Arial" pitchFamily="34" charset="-120"/>
              </a:rPr>
              <a:t>Una herramienta para saber cuánto paga el mercado y si ese salario alcanza para vivir</a:t>
            </a:r>
            <a:endParaRPr lang="en-US" sz="3600" dirty="0"/>
          </a:p>
        </p:txBody>
      </p:sp>
      <p:sp>
        <p:nvSpPr>
          <p:cNvPr id="4" name="Shape 2"/>
          <p:cNvSpPr/>
          <p:nvPr/>
        </p:nvSpPr>
        <p:spPr>
          <a:xfrm>
            <a:off x="812800" y="3562288"/>
            <a:ext cx="2328333" cy="76200"/>
          </a:xfrm>
          <a:prstGeom prst="rect">
            <a:avLst/>
          </a:prstGeom>
          <a:solidFill>
            <a:srgbClr val="2A9D8F"/>
          </a:solidFill>
          <a:ln/>
        </p:spPr>
        <p:txBody>
          <a:bodyPr/>
          <a:lstStyle/>
          <a:p>
            <a:endParaRPr lang="es-AR"/>
          </a:p>
        </p:txBody>
      </p:sp>
      <p:sp>
        <p:nvSpPr>
          <p:cNvPr id="5" name="Shape 3"/>
          <p:cNvSpPr/>
          <p:nvPr/>
        </p:nvSpPr>
        <p:spPr>
          <a:xfrm>
            <a:off x="3141133" y="3562288"/>
            <a:ext cx="2328333" cy="76200"/>
          </a:xfrm>
          <a:prstGeom prst="rect">
            <a:avLst/>
          </a:prstGeom>
          <a:solidFill>
            <a:srgbClr val="E9C46A"/>
          </a:solidFill>
          <a:ln/>
        </p:spPr>
        <p:txBody>
          <a:bodyPr/>
          <a:lstStyle/>
          <a:p>
            <a:endParaRPr lang="es-AR"/>
          </a:p>
        </p:txBody>
      </p:sp>
      <p:sp>
        <p:nvSpPr>
          <p:cNvPr id="6" name="Shape 4"/>
          <p:cNvSpPr/>
          <p:nvPr/>
        </p:nvSpPr>
        <p:spPr>
          <a:xfrm>
            <a:off x="5469467" y="3562288"/>
            <a:ext cx="2328333" cy="76200"/>
          </a:xfrm>
          <a:prstGeom prst="rect">
            <a:avLst/>
          </a:prstGeom>
          <a:solidFill>
            <a:srgbClr val="E76F51"/>
          </a:solidFill>
          <a:ln/>
        </p:spPr>
        <p:txBody>
          <a:bodyPr/>
          <a:lstStyle/>
          <a:p>
            <a:endParaRPr lang="es-AR"/>
          </a:p>
        </p:txBody>
      </p:sp>
      <p:sp>
        <p:nvSpPr>
          <p:cNvPr id="7" name="Text 5"/>
          <p:cNvSpPr/>
          <p:nvPr/>
        </p:nvSpPr>
        <p:spPr>
          <a:xfrm>
            <a:off x="812800" y="3917888"/>
            <a:ext cx="10883392" cy="716227"/>
          </a:xfrm>
          <a:prstGeom prst="rect">
            <a:avLst/>
          </a:prstGeom>
          <a:noFill/>
          <a:ln/>
        </p:spPr>
        <p:txBody>
          <a:bodyPr wrap="square" lIns="0" tIns="0" rIns="0" bIns="0" rtlCol="0" anchor="t">
            <a:normAutofit/>
          </a:bodyPr>
          <a:lstStyle/>
          <a:p>
            <a:pPr marL="0" indent="0" algn="l">
              <a:lnSpc>
                <a:spcPts val="2720"/>
              </a:lnSpc>
              <a:buNone/>
            </a:pPr>
            <a:r>
              <a:rPr lang="en-US" sz="1700" dirty="0">
                <a:solidFill>
                  <a:srgbClr val="BFD8D5"/>
                </a:solidFill>
                <a:latin typeface="Arial" pitchFamily="34" charset="0"/>
                <a:ea typeface="Arial" pitchFamily="34" charset="-122"/>
                <a:cs typeface="Arial" pitchFamily="34" charset="-120"/>
              </a:rPr>
              <a:t>Aplicación: </a:t>
            </a:r>
            <a:r>
              <a:rPr lang="en-US" sz="1700" b="1" dirty="0">
                <a:solidFill>
                  <a:srgbClr val="BFD8D5"/>
                </a:solidFill>
                <a:latin typeface="Arial" pitchFamily="34" charset="0"/>
                <a:ea typeface="Arial" pitchFamily="34" charset="-122"/>
                <a:cs typeface="Arial" pitchFamily="34" charset="-120"/>
              </a:rPr>
              <a:t>tfm-olguin-patricia.streamlit.app</a:t>
            </a:r>
            <a:endParaRPr lang="en-US" sz="1700" dirty="0"/>
          </a:p>
          <a:p>
            <a:pPr marL="0" indent="0" algn="l">
              <a:lnSpc>
                <a:spcPts val="2720"/>
              </a:lnSpc>
              <a:buNone/>
            </a:pPr>
            <a:r>
              <a:rPr lang="en-US" sz="1700" dirty="0">
                <a:solidFill>
                  <a:srgbClr val="BFD8D5"/>
                </a:solidFill>
                <a:latin typeface="Arial" pitchFamily="34" charset="0"/>
                <a:ea typeface="Arial" pitchFamily="34" charset="-122"/>
                <a:cs typeface="Arial" pitchFamily="34" charset="-120"/>
              </a:rPr>
              <a:t>Repositorio: </a:t>
            </a:r>
            <a:r>
              <a:rPr lang="en-US" sz="1700" b="1" dirty="0">
                <a:solidFill>
                  <a:srgbClr val="BFD8D5"/>
                </a:solidFill>
                <a:latin typeface="Arial" pitchFamily="34" charset="0"/>
                <a:ea typeface="Arial" pitchFamily="34" charset="-122"/>
                <a:cs typeface="Arial" pitchFamily="34" charset="-120"/>
              </a:rPr>
              <a:t>github.com/peolguin/TFM-Olguin-Patricia</a:t>
            </a:r>
            <a:endParaRPr lang="en-US" sz="1700" dirty="0"/>
          </a:p>
        </p:txBody>
      </p:sp>
      <p:sp>
        <p:nvSpPr>
          <p:cNvPr id="8" name="Text 6"/>
          <p:cNvSpPr/>
          <p:nvPr/>
        </p:nvSpPr>
        <p:spPr>
          <a:xfrm>
            <a:off x="812800" y="4888111"/>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FD8D5"/>
                </a:solidFill>
                <a:latin typeface="Arial" pitchFamily="34" charset="0"/>
                <a:ea typeface="Arial" pitchFamily="34" charset="-122"/>
                <a:cs typeface="Arial" pitchFamily="34" charset="-120"/>
              </a:rPr>
              <a:t>Patricia Elizabeth Olguín · Máster en Data Science, Big Data &amp; Business Analytics · UCM</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2A9D8F"/>
                </a:solidFill>
                <a:latin typeface="Arial" pitchFamily="34" charset="0"/>
                <a:ea typeface="Arial" pitchFamily="34" charset="-122"/>
                <a:cs typeface="Arial" pitchFamily="34" charset="-120"/>
              </a:rPr>
              <a:t>COMPARACIÓN INTERNACIONAL</a:t>
            </a:r>
            <a:endParaRPr lang="en-US" sz="1300" dirty="0"/>
          </a:p>
        </p:txBody>
      </p:sp>
      <p:sp>
        <p:nvSpPr>
          <p:cNvPr id="3" name="Text 1"/>
          <p:cNvSpPr>
            <a:spLocks noGrp="1"/>
          </p:cNvSpPr>
          <p:nvPr>
            <p:ph type="title"/>
          </p:nvPr>
        </p:nvSpPr>
        <p:spPr>
          <a:xfrm>
            <a:off x="812800" y="1094715"/>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264653"/>
                </a:solidFill>
                <a:latin typeface="Arial" pitchFamily="34" charset="0"/>
                <a:ea typeface="Arial" pitchFamily="34" charset="-122"/>
                <a:cs typeface="Arial" pitchFamily="34" charset="-120"/>
              </a:rPr>
              <a:t>Tres mercados, tres lógicas: Argentina, Brasil y España</a:t>
            </a:r>
            <a:endParaRPr lang="en-US" sz="2800" dirty="0"/>
          </a:p>
        </p:txBody>
      </p:sp>
      <p:sp>
        <p:nvSpPr>
          <p:cNvPr id="4" name="Shape 2"/>
          <p:cNvSpPr/>
          <p:nvPr/>
        </p:nvSpPr>
        <p:spPr>
          <a:xfrm>
            <a:off x="812800" y="1882313"/>
            <a:ext cx="3048000" cy="1170781"/>
          </a:xfrm>
          <a:prstGeom prst="roundRect">
            <a:avLst>
              <a:gd name="adj" fmla="val 5313"/>
            </a:avLst>
          </a:prstGeom>
          <a:solidFill>
            <a:srgbClr val="FFFFFF"/>
          </a:solidFill>
          <a:ln/>
        </p:spPr>
        <p:txBody>
          <a:bodyPr/>
          <a:lstStyle/>
          <a:p>
            <a:endParaRPr lang="es-AR"/>
          </a:p>
        </p:txBody>
      </p:sp>
      <p:sp>
        <p:nvSpPr>
          <p:cNvPr id="5" name="Shape 3"/>
          <p:cNvSpPr/>
          <p:nvPr/>
        </p:nvSpPr>
        <p:spPr>
          <a:xfrm>
            <a:off x="812800" y="1882313"/>
            <a:ext cx="3048000" cy="1170781"/>
          </a:xfrm>
          <a:custGeom>
            <a:avLst/>
            <a:gdLst/>
            <a:ahLst/>
            <a:cxnLst/>
            <a:rect l="l" t="t" r="r" b="b"/>
            <a:pathLst>
              <a:path w="3048000" h="956204">
                <a:moveTo>
                  <a:pt x="50800" y="956204"/>
                </a:moveTo>
                <a:lnTo>
                  <a:pt x="50800" y="956204"/>
                </a:lnTo>
                <a:arcTo wR="50800" hR="50800" stAng="5400000" swAng="5400000"/>
                <a:lnTo>
                  <a:pt x="0" y="50800"/>
                </a:lnTo>
                <a:arcTo wR="50800" hR="50800" stAng="10800000" swAng="5400000"/>
                <a:lnTo>
                  <a:pt x="50800" y="0"/>
                </a:lnTo>
                <a:lnTo>
                  <a:pt x="50800" y="956204"/>
                </a:lnTo>
                <a:close/>
              </a:path>
            </a:pathLst>
          </a:custGeom>
          <a:solidFill>
            <a:srgbClr val="2A9D8F"/>
          </a:solidFill>
          <a:ln/>
        </p:spPr>
        <p:txBody>
          <a:bodyPr/>
          <a:lstStyle/>
          <a:p>
            <a:endParaRPr lang="es-AR"/>
          </a:p>
        </p:txBody>
      </p:sp>
      <p:sp>
        <p:nvSpPr>
          <p:cNvPr id="6" name="Text 4"/>
          <p:cNvSpPr/>
          <p:nvPr/>
        </p:nvSpPr>
        <p:spPr>
          <a:xfrm>
            <a:off x="1066800" y="2060113"/>
            <a:ext cx="2668524" cy="360627"/>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264653"/>
                </a:solidFill>
                <a:latin typeface="Arial" pitchFamily="34" charset="0"/>
                <a:ea typeface="Arial" pitchFamily="34" charset="-122"/>
                <a:cs typeface="Arial" pitchFamily="34" charset="-120"/>
              </a:rPr>
              <a:t>+44%</a:t>
            </a:r>
            <a:endParaRPr lang="en-US" sz="2400" dirty="0"/>
          </a:p>
        </p:txBody>
      </p:sp>
      <p:sp>
        <p:nvSpPr>
          <p:cNvPr id="7" name="Text 5"/>
          <p:cNvSpPr/>
          <p:nvPr/>
        </p:nvSpPr>
        <p:spPr>
          <a:xfrm>
            <a:off x="1066800" y="2446136"/>
            <a:ext cx="2668524" cy="454554"/>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D4A55"/>
                </a:solidFill>
                <a:latin typeface="Arial" pitchFamily="34" charset="0"/>
                <a:ea typeface="Arial" pitchFamily="34" charset="-122"/>
                <a:cs typeface="Arial" pitchFamily="34" charset="-120"/>
              </a:rPr>
              <a:t>empleo registrado en Argentina (Brasil 34%, España 16%)</a:t>
            </a:r>
            <a:endParaRPr lang="en-US" sz="1300" dirty="0"/>
          </a:p>
        </p:txBody>
      </p:sp>
      <p:sp>
        <p:nvSpPr>
          <p:cNvPr id="8" name="Shape 6"/>
          <p:cNvSpPr/>
          <p:nvPr/>
        </p:nvSpPr>
        <p:spPr>
          <a:xfrm>
            <a:off x="812800" y="3152313"/>
            <a:ext cx="3048000" cy="1170781"/>
          </a:xfrm>
          <a:prstGeom prst="roundRect">
            <a:avLst>
              <a:gd name="adj" fmla="val 3667"/>
            </a:avLst>
          </a:prstGeom>
          <a:solidFill>
            <a:srgbClr val="FFFFFF"/>
          </a:solidFill>
          <a:ln/>
        </p:spPr>
        <p:txBody>
          <a:bodyPr/>
          <a:lstStyle/>
          <a:p>
            <a:endParaRPr lang="es-AR"/>
          </a:p>
        </p:txBody>
      </p:sp>
      <p:sp>
        <p:nvSpPr>
          <p:cNvPr id="9" name="Shape 7"/>
          <p:cNvSpPr/>
          <p:nvPr/>
        </p:nvSpPr>
        <p:spPr>
          <a:xfrm>
            <a:off x="812800" y="3152313"/>
            <a:ext cx="3048000" cy="1170781"/>
          </a:xfrm>
          <a:custGeom>
            <a:avLst/>
            <a:gdLst/>
            <a:ahLst/>
            <a:cxnLst/>
            <a:rect l="l" t="t" r="r" b="b"/>
            <a:pathLst>
              <a:path w="3048000" h="1385358">
                <a:moveTo>
                  <a:pt x="50800" y="1385358"/>
                </a:moveTo>
                <a:lnTo>
                  <a:pt x="50800" y="1385358"/>
                </a:lnTo>
                <a:arcTo wR="50800" hR="50800" stAng="5400000" swAng="5400000"/>
                <a:lnTo>
                  <a:pt x="0" y="50800"/>
                </a:lnTo>
                <a:arcTo wR="50800" hR="50800" stAng="10800000" swAng="5400000"/>
                <a:lnTo>
                  <a:pt x="50800" y="0"/>
                </a:lnTo>
                <a:lnTo>
                  <a:pt x="50800" y="1385358"/>
                </a:lnTo>
                <a:close/>
              </a:path>
            </a:pathLst>
          </a:custGeom>
          <a:solidFill>
            <a:srgbClr val="E9C46A"/>
          </a:solidFill>
          <a:ln/>
        </p:spPr>
        <p:txBody>
          <a:bodyPr/>
          <a:lstStyle/>
          <a:p>
            <a:endParaRPr lang="es-AR"/>
          </a:p>
        </p:txBody>
      </p:sp>
      <p:sp>
        <p:nvSpPr>
          <p:cNvPr id="10" name="Text 8"/>
          <p:cNvSpPr/>
          <p:nvPr/>
        </p:nvSpPr>
        <p:spPr>
          <a:xfrm>
            <a:off x="1066800" y="3330113"/>
            <a:ext cx="2668524" cy="360627"/>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264653"/>
                </a:solidFill>
                <a:latin typeface="Arial" pitchFamily="34" charset="0"/>
                <a:ea typeface="Arial" pitchFamily="34" charset="-122"/>
                <a:cs typeface="Arial" pitchFamily="34" charset="-120"/>
              </a:rPr>
              <a:t>+65%</a:t>
            </a:r>
            <a:endParaRPr lang="en-US" sz="2400" dirty="0"/>
          </a:p>
        </p:txBody>
      </p:sp>
      <p:sp>
        <p:nvSpPr>
          <p:cNvPr id="11" name="Text 9"/>
          <p:cNvSpPr/>
          <p:nvPr/>
        </p:nvSpPr>
        <p:spPr>
          <a:xfrm>
            <a:off x="1066800" y="3716136"/>
            <a:ext cx="2668524" cy="454554"/>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D4A55"/>
                </a:solidFill>
                <a:latin typeface="Arial" pitchFamily="34" charset="0"/>
                <a:ea typeface="Arial" pitchFamily="34" charset="-122"/>
                <a:cs typeface="Arial" pitchFamily="34" charset="-120"/>
              </a:rPr>
              <a:t>ocupación calificada en Brasil (España 34%, Argentina 21%)</a:t>
            </a:r>
            <a:endParaRPr lang="en-US" sz="1300" dirty="0"/>
          </a:p>
        </p:txBody>
      </p:sp>
      <p:sp>
        <p:nvSpPr>
          <p:cNvPr id="12" name="Shape 10"/>
          <p:cNvSpPr/>
          <p:nvPr/>
        </p:nvSpPr>
        <p:spPr>
          <a:xfrm>
            <a:off x="812800" y="4422313"/>
            <a:ext cx="3048000" cy="1170781"/>
          </a:xfrm>
          <a:prstGeom prst="roundRect">
            <a:avLst>
              <a:gd name="adj" fmla="val 4339"/>
            </a:avLst>
          </a:prstGeom>
          <a:solidFill>
            <a:srgbClr val="FFFFFF"/>
          </a:solidFill>
          <a:ln/>
        </p:spPr>
        <p:txBody>
          <a:bodyPr/>
          <a:lstStyle/>
          <a:p>
            <a:endParaRPr lang="es-AR"/>
          </a:p>
        </p:txBody>
      </p:sp>
      <p:sp>
        <p:nvSpPr>
          <p:cNvPr id="13" name="Shape 11"/>
          <p:cNvSpPr/>
          <p:nvPr/>
        </p:nvSpPr>
        <p:spPr>
          <a:xfrm>
            <a:off x="812800" y="4422313"/>
            <a:ext cx="3048000" cy="1170781"/>
          </a:xfrm>
          <a:custGeom>
            <a:avLst/>
            <a:gdLst/>
            <a:ahLst/>
            <a:cxnLst/>
            <a:rect l="l" t="t" r="r" b="b"/>
            <a:pathLst>
              <a:path w="3048000" h="1170781">
                <a:moveTo>
                  <a:pt x="50800" y="1170781"/>
                </a:moveTo>
                <a:lnTo>
                  <a:pt x="50800" y="1170781"/>
                </a:lnTo>
                <a:arcTo wR="50800" hR="50800" stAng="5400000" swAng="5400000"/>
                <a:lnTo>
                  <a:pt x="0" y="50800"/>
                </a:lnTo>
                <a:arcTo wR="50800" hR="50800" stAng="10800000" swAng="5400000"/>
                <a:lnTo>
                  <a:pt x="50800" y="0"/>
                </a:lnTo>
                <a:lnTo>
                  <a:pt x="50800" y="1170781"/>
                </a:lnTo>
                <a:close/>
              </a:path>
            </a:pathLst>
          </a:custGeom>
          <a:solidFill>
            <a:srgbClr val="E76F51"/>
          </a:solidFill>
          <a:ln/>
        </p:spPr>
        <p:txBody>
          <a:bodyPr/>
          <a:lstStyle/>
          <a:p>
            <a:endParaRPr lang="es-AR"/>
          </a:p>
        </p:txBody>
      </p:sp>
      <p:sp>
        <p:nvSpPr>
          <p:cNvPr id="14" name="Text 12"/>
          <p:cNvSpPr/>
          <p:nvPr/>
        </p:nvSpPr>
        <p:spPr>
          <a:xfrm>
            <a:off x="1066800" y="4600113"/>
            <a:ext cx="2668524" cy="360627"/>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264653"/>
                </a:solidFill>
                <a:latin typeface="Arial" pitchFamily="34" charset="0"/>
                <a:ea typeface="Arial" pitchFamily="34" charset="-122"/>
                <a:cs typeface="Arial" pitchFamily="34" charset="-120"/>
              </a:rPr>
              <a:t>16,8 USD</a:t>
            </a:r>
            <a:endParaRPr lang="en-US" sz="2400" dirty="0"/>
          </a:p>
        </p:txBody>
      </p:sp>
      <p:sp>
        <p:nvSpPr>
          <p:cNvPr id="15" name="Text 13"/>
          <p:cNvSpPr/>
          <p:nvPr/>
        </p:nvSpPr>
        <p:spPr>
          <a:xfrm>
            <a:off x="1066800" y="4986136"/>
            <a:ext cx="2668524" cy="454554"/>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D4A55"/>
                </a:solidFill>
                <a:latin typeface="Arial" pitchFamily="34" charset="0"/>
                <a:ea typeface="Arial" pitchFamily="34" charset="-122"/>
                <a:cs typeface="Arial" pitchFamily="34" charset="-120"/>
              </a:rPr>
              <a:t>por hora en España, en PPA (Argentina 6,3; Brasil 4,2)</a:t>
            </a:r>
            <a:endParaRPr lang="en-US" sz="1300" dirty="0"/>
          </a:p>
        </p:txBody>
      </p:sp>
      <p:pic>
        <p:nvPicPr>
          <p:cNvPr id="16" name="Image 0" descr="Efecto de cada factor sobre el salario por hora de las mujeres y poder de compra de una hora de trabajo en Argentina, Brasil y España"/>
          <p:cNvPicPr>
            <a:picLocks noChangeAspect="1"/>
          </p:cNvPicPr>
          <p:nvPr/>
        </p:nvPicPr>
        <p:blipFill>
          <a:blip r:embed="rId3"/>
          <a:stretch/>
        </p:blipFill>
        <p:spPr>
          <a:xfrm>
            <a:off x="4114800" y="2346657"/>
            <a:ext cx="7264400" cy="2837656"/>
          </a:xfrm>
          <a:prstGeom prst="rect">
            <a:avLst/>
          </a:prstGeom>
        </p:spPr>
      </p:pic>
      <p:sp>
        <p:nvSpPr>
          <p:cNvPr id="17" name="Text 14"/>
          <p:cNvSpPr/>
          <p:nvPr/>
        </p:nvSpPr>
        <p:spPr>
          <a:xfrm>
            <a:off x="812800" y="62890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Arial" pitchFamily="34" charset="0"/>
                <a:ea typeface="Arial" pitchFamily="34" charset="-122"/>
                <a:cs typeface="Arial" pitchFamily="34" charset="-120"/>
              </a:rPr>
              <a:t>Determinantes y predicción del salario de las mujeres asalariadas en Argentina · TFM UCM</a:t>
            </a:r>
            <a:endParaRPr lang="en-US" sz="1200" dirty="0"/>
          </a:p>
        </p:txBody>
      </p:sp>
      <p:sp>
        <p:nvSpPr>
          <p:cNvPr id="18" name="Text 15"/>
          <p:cNvSpPr/>
          <p:nvPr/>
        </p:nvSpPr>
        <p:spPr>
          <a:xfrm>
            <a:off x="10058400" y="62890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64653"/>
                </a:solidFill>
                <a:latin typeface="Arial" pitchFamily="34" charset="0"/>
                <a:ea typeface="Arial" pitchFamily="34" charset="-122"/>
                <a:cs typeface="Arial" pitchFamily="34" charset="-120"/>
              </a:rPr>
              <a:t>9 / 12</a:t>
            </a:r>
            <a:endParaRPr lang="en-US" sz="1200" dirty="0"/>
          </a:p>
        </p:txBody>
      </p:sp>
    </p:spTree>
  </p:cSld>
  <p:clrMapOvr>
    <a:masterClrMapping/>
  </p:clrMapOvr>
</p:sld>
</file>

<file path=ppt/theme/theme1.xml><?xml version="1.0" encoding="utf-8"?>
<a:theme xmlns:a="http://schemas.openxmlformats.org/drawingml/2006/main" name="Video TFM – Determinantes y predicción del salario de las mujeres">
  <a:themeElements>
    <a:clrScheme name="Video TFM – Determinantes y predicción del salario de las mujeres">
      <a:dk1>
        <a:srgbClr val="264653"/>
      </a:dk1>
      <a:lt1>
        <a:srgbClr val="FBFAF6"/>
      </a:lt1>
      <a:dk2>
        <a:srgbClr val="5B737C"/>
      </a:dk2>
      <a:lt2>
        <a:srgbClr val="E6E8E6"/>
      </a:lt2>
      <a:accent1>
        <a:srgbClr val="2A9D8F"/>
      </a:accent1>
      <a:accent2>
        <a:srgbClr val="E9C46A"/>
      </a:accent2>
      <a:accent3>
        <a:srgbClr val="E76F51"/>
      </a:accent3>
      <a:accent4>
        <a:srgbClr val="6A7179"/>
      </a:accent4>
      <a:accent5>
        <a:srgbClr val="BFD8D5"/>
      </a:accent5>
      <a:accent6>
        <a:srgbClr val="9AA0A6"/>
      </a:accent6>
      <a:hlink>
        <a:srgbClr val="0563C1"/>
      </a:hlink>
      <a:folHlink>
        <a:srgbClr val="954F72"/>
      </a:folHlink>
    </a:clrScheme>
    <a:fontScheme name="Video TFM – Determinantes y predicción del salario de las mujere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202</TotalTime>
  <Words>1914</Words>
  <Application>Microsoft Office PowerPoint</Application>
  <PresentationFormat>Panorámica</PresentationFormat>
  <Paragraphs>145</Paragraphs>
  <Slides>11</Slides>
  <Notes>11</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11</vt:i4>
      </vt:variant>
    </vt:vector>
  </HeadingPairs>
  <TitlesOfParts>
    <vt:vector size="13" baseType="lpstr">
      <vt:lpstr>Arial</vt:lpstr>
      <vt:lpstr>Video TFM – Determinantes y predicción del salario de las mujeres</vt:lpstr>
      <vt:lpstr>Determinantes y predicción del salario de las mujeres ocupadas en Argentina (2024-2026)</vt:lpstr>
      <vt:lpstr>Combinar mis intereses de investigación con los que podría tener una empresa. </vt:lpstr>
      <vt:lpstr>Microdatos de 9 trimestres y un salario que neutraliza la inflación</vt:lpstr>
      <vt:lpstr>El modelo predice a un año, pero los precios del mercado cambian</vt:lpstr>
      <vt:lpstr>El tipo de empleo pesa más que la formación</vt:lpstr>
      <vt:lpstr>La diferencia entre regiones es sobre todo costo de vida</vt:lpstr>
      <vt:lpstr>¿Alcanza el salario? El welfare ratio de Robert Allen</vt:lpstr>
      <vt:lpstr>La brecha a igual perfil supera el 5% en el sector privado</vt:lpstr>
      <vt:lpstr>Bandas de mercado y auditoría de nómina</vt:lpstr>
      <vt:lpstr>Conclusiones, retos y lecciones aprendidas</vt:lpstr>
      <vt:lpstr>Una herramienta para saber cuánto paga el mercado y si ese salario alcanza para vivir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Video TFM – Determinantes y predicción del salario de las mujeres</dc:title>
  <dc:subject/>
  <dc:creator/>
  <cp:lastModifiedBy>Patricia Elizabeth Olguin</cp:lastModifiedBy>
  <cp:revision>1</cp:revision>
  <dcterms:created xsi:type="dcterms:W3CDTF">2026-09-30T23:43:29Z</dcterms:created>
  <dcterms:modified xsi:type="dcterms:W3CDTF">2026-10-01T03:08:36Z</dcterms:modified>
</cp:coreProperties>
</file>